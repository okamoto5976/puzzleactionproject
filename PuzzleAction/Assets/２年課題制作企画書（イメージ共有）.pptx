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8" r:id="rId10"/>
    <p:sldId id="266" r:id="rId11"/>
    <p:sldId id="265" r:id="rId12"/>
    <p:sldId id="264" r:id="rId13"/>
    <p:sldId id="269" r:id="rId14"/>
    <p:sldId id="267"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ED095F-FA23-D491-6701-26864F1DB9B3}" v="1" dt="2026-05-20T04:56:28.0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06d7146c-4c1a-47ba-bd34-84ba7e0a07f3::" providerId="AD" clId="Web-{7CED095F-FA23-D491-6701-26864F1DB9B3}"/>
    <pc:docChg chg="sldOrd">
      <pc:chgData name="Guest User" userId="S::urn:spo:tenantanon#06d7146c-4c1a-47ba-bd34-84ba7e0a07f3::" providerId="AD" clId="Web-{7CED095F-FA23-D491-6701-26864F1DB9B3}" dt="2026-05-20T04:56:28.048" v="0"/>
      <pc:docMkLst>
        <pc:docMk/>
      </pc:docMkLst>
      <pc:sldChg chg="ord">
        <pc:chgData name="Guest User" userId="S::urn:spo:tenantanon#06d7146c-4c1a-47ba-bd34-84ba7e0a07f3::" providerId="AD" clId="Web-{7CED095F-FA23-D491-6701-26864F1DB9B3}" dt="2026-05-20T04:56:28.048" v="0"/>
        <pc:sldMkLst>
          <pc:docMk/>
          <pc:sldMk cId="3968000167" sldId="267"/>
        </pc:sldMkLst>
      </pc:sldChg>
    </pc:docChg>
  </pc:docChgLst>
  <pc:docChgLst>
    <pc:chgData name="久保　楓太" userId="S::kmm2559353@stu.o-hara.ac.jp::30b790fd-e7ca-4a45-a370-a0a4f5eb0c59" providerId="AD" clId="Web-{909717E8-CDBC-06B3-5C50-055512137FA8}"/>
    <pc:docChg chg="addSld modSld">
      <pc:chgData name="久保　楓太" userId="S::kmm2559353@stu.o-hara.ac.jp::30b790fd-e7ca-4a45-a370-a0a4f5eb0c59" providerId="AD" clId="Web-{909717E8-CDBC-06B3-5C50-055512137FA8}" dt="2026-05-18T01:17:54.080" v="37" actId="20577"/>
      <pc:docMkLst>
        <pc:docMk/>
      </pc:docMkLst>
      <pc:sldChg chg="modSp new">
        <pc:chgData name="久保　楓太" userId="S::kmm2559353@stu.o-hara.ac.jp::30b790fd-e7ca-4a45-a370-a0a4f5eb0c59" providerId="AD" clId="Web-{909717E8-CDBC-06B3-5C50-055512137FA8}" dt="2026-05-18T01:17:54.080" v="37" actId="20577"/>
        <pc:sldMkLst>
          <pc:docMk/>
          <pc:sldMk cId="3843629009" sldId="269"/>
        </pc:sldMkLst>
        <pc:spChg chg="mod">
          <ac:chgData name="久保　楓太" userId="S::kmm2559353@stu.o-hara.ac.jp::30b790fd-e7ca-4a45-a370-a0a4f5eb0c59" providerId="AD" clId="Web-{909717E8-CDBC-06B3-5C50-055512137FA8}" dt="2026-05-18T01:16:37.594" v="14" actId="20577"/>
          <ac:spMkLst>
            <pc:docMk/>
            <pc:sldMk cId="3843629009" sldId="269"/>
            <ac:spMk id="2" creationId="{325E18B7-7C79-CCDF-0280-9DA8F04830E1}"/>
          </ac:spMkLst>
        </pc:spChg>
        <pc:spChg chg="mod">
          <ac:chgData name="久保　楓太" userId="S::kmm2559353@stu.o-hara.ac.jp::30b790fd-e7ca-4a45-a370-a0a4f5eb0c59" providerId="AD" clId="Web-{909717E8-CDBC-06B3-5C50-055512137FA8}" dt="2026-05-18T01:17:54.080" v="37" actId="20577"/>
          <ac:spMkLst>
            <pc:docMk/>
            <pc:sldMk cId="3843629009" sldId="269"/>
            <ac:spMk id="3" creationId="{8319B52E-B5AE-0FD7-0C3D-42375FA6762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2026/5/19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2A643-9BB0-4E02-80B2-2C0A5E5D738E}" type="datetimeFigureOut">
              <a:rPr kumimoji="1" lang="ja-JP" altLang="en-US" smtClean="0"/>
              <a:t>2026/5/19</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4103"/>
            <a:ext cx="9144000" cy="1409940"/>
          </a:xfrm>
        </p:spPr>
        <p:txBody>
          <a:bodyPr/>
          <a:lstStyle/>
          <a:p>
            <a:r>
              <a:rPr lang="ja-JP" altLang="en-US">
                <a:ea typeface="ＭＳ Ｐゴシック"/>
              </a:rPr>
              <a:t>Puzzle Design(仮)</a:t>
            </a:r>
          </a:p>
        </p:txBody>
      </p:sp>
      <p:sp>
        <p:nvSpPr>
          <p:cNvPr id="3" name="サブタイトル 2"/>
          <p:cNvSpPr>
            <a:spLocks noGrp="1"/>
          </p:cNvSpPr>
          <p:nvPr>
            <p:ph type="subTitle" idx="1"/>
          </p:nvPr>
        </p:nvSpPr>
        <p:spPr>
          <a:xfrm>
            <a:off x="0" y="5729886"/>
            <a:ext cx="2789208" cy="1123801"/>
          </a:xfrm>
        </p:spPr>
        <p:txBody>
          <a:bodyPr vert="horz" lIns="91440" tIns="45720" rIns="91440" bIns="45720" rtlCol="0" anchor="t">
            <a:normAutofit/>
          </a:bodyPr>
          <a:lstStyle/>
          <a:p>
            <a:r>
              <a:rPr lang="ja-JP" altLang="en-US" sz="1800">
                <a:ea typeface="ＭＳ Ｐゴシック"/>
              </a:rPr>
              <a:t>予定ハード　PC</a:t>
            </a:r>
          </a:p>
          <a:p>
            <a:r>
              <a:rPr lang="ja-JP" altLang="en-US" sz="1800">
                <a:ea typeface="ＭＳ Ｐゴシック"/>
              </a:rPr>
              <a:t>プレイ人数　１人</a:t>
            </a:r>
          </a:p>
          <a:p>
            <a:r>
              <a:rPr lang="ja-JP" altLang="en-US" sz="1800">
                <a:ea typeface="ＭＳ Ｐゴシック"/>
              </a:rPr>
              <a:t>対象年齢１２歳</a:t>
            </a:r>
          </a:p>
        </p:txBody>
      </p:sp>
      <p:sp>
        <p:nvSpPr>
          <p:cNvPr id="4" name="TextBox 3">
            <a:extLst>
              <a:ext uri="{FF2B5EF4-FFF2-40B4-BE49-F238E27FC236}">
                <a16:creationId xmlns:a16="http://schemas.microsoft.com/office/drawing/2014/main" id="{F4189B9E-5483-ECF1-898E-87BA31E3480E}"/>
              </a:ext>
            </a:extLst>
          </p:cNvPr>
          <p:cNvSpPr txBox="1"/>
          <p:nvPr/>
        </p:nvSpPr>
        <p:spPr>
          <a:xfrm>
            <a:off x="7833360" y="4551680"/>
            <a:ext cx="28041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rPr>
              <a:t>グリッドダンジョン（案）</a:t>
            </a:r>
            <a:endParaRPr lang="en-US"/>
          </a:p>
        </p:txBody>
      </p:sp>
    </p:spTree>
    <p:extLst>
      <p:ext uri="{BB962C8B-B14F-4D97-AF65-F5344CB8AC3E}">
        <p14:creationId xmlns:p14="http://schemas.microsoft.com/office/powerpoint/2010/main" val="212838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ABD78-98BB-6E2F-C197-42D3AF24236E}"/>
              </a:ext>
            </a:extLst>
          </p:cNvPr>
          <p:cNvSpPr>
            <a:spLocks noGrp="1"/>
          </p:cNvSpPr>
          <p:nvPr>
            <p:ph type="title"/>
          </p:nvPr>
        </p:nvSpPr>
        <p:spPr>
          <a:xfrm>
            <a:off x="2117" y="-5292"/>
            <a:ext cx="10515600" cy="1325563"/>
          </a:xfrm>
        </p:spPr>
        <p:txBody>
          <a:bodyPr/>
          <a:lstStyle/>
          <a:p>
            <a:r>
              <a:rPr lang="ja-JP" altLang="en-US">
                <a:ea typeface="ＭＳ Ｐゴシック"/>
              </a:rPr>
              <a:t>ゲームコンセプト（仮）</a:t>
            </a:r>
            <a:endParaRPr kumimoji="1" lang="en-US"/>
          </a:p>
        </p:txBody>
      </p:sp>
      <p:sp>
        <p:nvSpPr>
          <p:cNvPr id="3" name="Content Placeholder 2">
            <a:extLst>
              <a:ext uri="{FF2B5EF4-FFF2-40B4-BE49-F238E27FC236}">
                <a16:creationId xmlns:a16="http://schemas.microsoft.com/office/drawing/2014/main" id="{4F249B66-66A8-B4DE-4CC9-1370C6A033D9}"/>
              </a:ext>
            </a:extLst>
          </p:cNvPr>
          <p:cNvSpPr>
            <a:spLocks noGrp="1"/>
          </p:cNvSpPr>
          <p:nvPr>
            <p:ph idx="1"/>
          </p:nvPr>
        </p:nvSpPr>
        <p:spPr>
          <a:xfrm>
            <a:off x="2117" y="1317625"/>
            <a:ext cx="10515600" cy="4351338"/>
          </a:xfrm>
        </p:spPr>
        <p:txBody>
          <a:bodyPr vert="horz" lIns="91440" tIns="45720" rIns="91440" bIns="45720" rtlCol="0" anchor="t">
            <a:normAutofit/>
          </a:bodyPr>
          <a:lstStyle/>
          <a:p>
            <a:pPr marL="0" indent="0">
              <a:buNone/>
            </a:pPr>
            <a:endParaRPr lang="ja-JP" altLang="en-US">
              <a:ea typeface="ＭＳ Ｐゴシック"/>
            </a:endParaRPr>
          </a:p>
          <a:p>
            <a:pPr marL="0" indent="0">
              <a:buNone/>
            </a:pPr>
            <a:r>
              <a:rPr lang="ja-JP" altLang="en-US">
                <a:ea typeface="ＭＳ Ｐゴシック"/>
              </a:rPr>
              <a:t>パズルのようにダンジョンを構築し、戦略を立てて攻略する</a:t>
            </a:r>
          </a:p>
          <a:p>
            <a:pPr marL="0" indent="0">
              <a:buNone/>
            </a:pPr>
            <a:endParaRPr lang="ja-JP" altLang="en-US">
              <a:ea typeface="ＭＳ Ｐゴシック"/>
            </a:endParaRPr>
          </a:p>
          <a:p>
            <a:pPr marL="0" indent="0">
              <a:buNone/>
            </a:pPr>
            <a:r>
              <a:rPr lang="ja-JP" altLang="en-US">
                <a:ea typeface="ＭＳ Ｐゴシック"/>
              </a:rPr>
              <a:t>パズル型戦略ゲーム</a:t>
            </a:r>
          </a:p>
          <a:p>
            <a:pPr marL="0" indent="0">
              <a:buNone/>
            </a:pPr>
            <a:r>
              <a:rPr lang="ja-JP">
                <a:ea typeface="+mn-lt"/>
                <a:cs typeface="+mn-lt"/>
              </a:rPr>
              <a:t>ダンジョン構築型戦略ゲーム</a:t>
            </a:r>
            <a:endParaRPr lang="ja-JP">
              <a:ea typeface="ＭＳ Ｐゴシック" panose="020B0600070205080204" pitchFamily="34" charset="-128"/>
              <a:cs typeface="+mn-lt"/>
            </a:endParaRPr>
          </a:p>
          <a:p>
            <a:pPr marL="0" indent="0">
              <a:buNone/>
            </a:pPr>
            <a:endParaRPr lang="ja-JP"/>
          </a:p>
          <a:p>
            <a:pPr marL="0" indent="0">
              <a:buNone/>
            </a:pPr>
            <a:endParaRPr lang="ja-JP"/>
          </a:p>
        </p:txBody>
      </p:sp>
    </p:spTree>
    <p:extLst>
      <p:ext uri="{BB962C8B-B14F-4D97-AF65-F5344CB8AC3E}">
        <p14:creationId xmlns:p14="http://schemas.microsoft.com/office/powerpoint/2010/main" val="3771992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7B2D-CA18-E0B2-D952-AFD27E8E8897}"/>
              </a:ext>
            </a:extLst>
          </p:cNvPr>
          <p:cNvSpPr>
            <a:spLocks noGrp="1"/>
          </p:cNvSpPr>
          <p:nvPr>
            <p:ph type="title"/>
          </p:nvPr>
        </p:nvSpPr>
        <p:spPr>
          <a:xfrm>
            <a:off x="2117" y="4000"/>
            <a:ext cx="12190142" cy="805174"/>
          </a:xfrm>
        </p:spPr>
        <p:txBody>
          <a:bodyPr/>
          <a:lstStyle/>
          <a:p>
            <a:r>
              <a:rPr lang="ja-JP" altLang="en-US"/>
              <a:t>ゲームサイクル</a:t>
            </a:r>
            <a:endParaRPr kumimoji="1" lang="en-US"/>
          </a:p>
        </p:txBody>
      </p:sp>
      <p:sp>
        <p:nvSpPr>
          <p:cNvPr id="3" name="Content Placeholder 2">
            <a:extLst>
              <a:ext uri="{FF2B5EF4-FFF2-40B4-BE49-F238E27FC236}">
                <a16:creationId xmlns:a16="http://schemas.microsoft.com/office/drawing/2014/main" id="{C485FC3C-1053-D36F-7659-E53E0C3688DE}"/>
              </a:ext>
            </a:extLst>
          </p:cNvPr>
          <p:cNvSpPr>
            <a:spLocks noGrp="1"/>
          </p:cNvSpPr>
          <p:nvPr>
            <p:ph idx="1"/>
          </p:nvPr>
        </p:nvSpPr>
        <p:spPr>
          <a:xfrm>
            <a:off x="563034" y="807819"/>
            <a:ext cx="2746195" cy="464828"/>
          </a:xfrm>
        </p:spPr>
        <p:style>
          <a:lnRef idx="2">
            <a:schemeClr val="accent1"/>
          </a:lnRef>
          <a:fillRef idx="1">
            <a:schemeClr val="lt1"/>
          </a:fillRef>
          <a:effectRef idx="0">
            <a:schemeClr val="accent1"/>
          </a:effectRef>
          <a:fontRef idx="minor">
            <a:schemeClr val="dk1"/>
          </a:fontRef>
        </p:style>
        <p:txBody>
          <a:bodyPr vert="horz" lIns="91440" tIns="45720" rIns="91440" bIns="45720" rtlCol="0" anchor="t">
            <a:normAutofit/>
          </a:bodyPr>
          <a:lstStyle/>
          <a:p>
            <a:pPr marL="0" indent="0" algn="ctr">
              <a:buNone/>
            </a:pPr>
            <a:r>
              <a:rPr lang="ja-JP" altLang="en-US" sz="1800">
                <a:ea typeface="ＭＳ Ｐゴシック"/>
              </a:rPr>
              <a:t>タイトル</a:t>
            </a:r>
            <a:endParaRPr lang="en-US">
              <a:ea typeface="ＭＳ Ｐゴシック"/>
            </a:endParaRPr>
          </a:p>
        </p:txBody>
      </p:sp>
      <p:sp>
        <p:nvSpPr>
          <p:cNvPr id="4" name="TextBox 3">
            <a:extLst>
              <a:ext uri="{FF2B5EF4-FFF2-40B4-BE49-F238E27FC236}">
                <a16:creationId xmlns:a16="http://schemas.microsoft.com/office/drawing/2014/main" id="{B764740F-8DAB-5F86-E453-7751483E7BFD}"/>
              </a:ext>
            </a:extLst>
          </p:cNvPr>
          <p:cNvSpPr txBox="1"/>
          <p:nvPr/>
        </p:nvSpPr>
        <p:spPr>
          <a:xfrm>
            <a:off x="570210" y="2004896"/>
            <a:ext cx="2741135" cy="36933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マップ選択画面</a:t>
            </a:r>
            <a:endParaRPr lang="en-US" err="1">
              <a:ea typeface="ＭＳ Ｐゴシック"/>
            </a:endParaRPr>
          </a:p>
        </p:txBody>
      </p:sp>
      <p:sp>
        <p:nvSpPr>
          <p:cNvPr id="6" name="TextBox 5">
            <a:extLst>
              <a:ext uri="{FF2B5EF4-FFF2-40B4-BE49-F238E27FC236}">
                <a16:creationId xmlns:a16="http://schemas.microsoft.com/office/drawing/2014/main" id="{B14596AC-0039-A3B1-6D72-D3888B6EC836}"/>
              </a:ext>
            </a:extLst>
          </p:cNvPr>
          <p:cNvSpPr txBox="1"/>
          <p:nvPr/>
        </p:nvSpPr>
        <p:spPr>
          <a:xfrm>
            <a:off x="566607" y="4309451"/>
            <a:ext cx="2741341" cy="36933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設計フェーズ画面</a:t>
            </a:r>
          </a:p>
        </p:txBody>
      </p:sp>
      <p:sp>
        <p:nvSpPr>
          <p:cNvPr id="5" name="TextBox 4">
            <a:extLst>
              <a:ext uri="{FF2B5EF4-FFF2-40B4-BE49-F238E27FC236}">
                <a16:creationId xmlns:a16="http://schemas.microsoft.com/office/drawing/2014/main" id="{F7B99D4E-C076-7B30-9421-3776A7742488}"/>
              </a:ext>
            </a:extLst>
          </p:cNvPr>
          <p:cNvSpPr txBox="1"/>
          <p:nvPr/>
        </p:nvSpPr>
        <p:spPr>
          <a:xfrm>
            <a:off x="5693317" y="4311185"/>
            <a:ext cx="2814320" cy="369332"/>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攻略フェーズ</a:t>
            </a:r>
          </a:p>
        </p:txBody>
      </p:sp>
      <p:sp>
        <p:nvSpPr>
          <p:cNvPr id="7" name="TextBox 6">
            <a:extLst>
              <a:ext uri="{FF2B5EF4-FFF2-40B4-BE49-F238E27FC236}">
                <a16:creationId xmlns:a16="http://schemas.microsoft.com/office/drawing/2014/main" id="{A4FA159D-5187-C1BE-0303-3158BE439A23}"/>
              </a:ext>
            </a:extLst>
          </p:cNvPr>
          <p:cNvSpPr txBox="1"/>
          <p:nvPr/>
        </p:nvSpPr>
        <p:spPr>
          <a:xfrm>
            <a:off x="7440342" y="5880037"/>
            <a:ext cx="2745431" cy="36933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インベントリ画面</a:t>
            </a:r>
            <a:endParaRPr lang="en-US"/>
          </a:p>
        </p:txBody>
      </p:sp>
      <p:sp>
        <p:nvSpPr>
          <p:cNvPr id="8" name="TextBox 7">
            <a:extLst>
              <a:ext uri="{FF2B5EF4-FFF2-40B4-BE49-F238E27FC236}">
                <a16:creationId xmlns:a16="http://schemas.microsoft.com/office/drawing/2014/main" id="{56F59DB6-D75D-3961-4182-D9FCC6075025}"/>
              </a:ext>
            </a:extLst>
          </p:cNvPr>
          <p:cNvSpPr txBox="1"/>
          <p:nvPr/>
        </p:nvSpPr>
        <p:spPr>
          <a:xfrm>
            <a:off x="3642361" y="5902712"/>
            <a:ext cx="2813824" cy="36933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ショップ画面</a:t>
            </a:r>
            <a:endParaRPr lang="en-US"/>
          </a:p>
        </p:txBody>
      </p:sp>
      <p:sp>
        <p:nvSpPr>
          <p:cNvPr id="11" name="TextBox 10">
            <a:extLst>
              <a:ext uri="{FF2B5EF4-FFF2-40B4-BE49-F238E27FC236}">
                <a16:creationId xmlns:a16="http://schemas.microsoft.com/office/drawing/2014/main" id="{27CD28A2-2B03-327B-A4BA-23E64E7E264C}"/>
              </a:ext>
            </a:extLst>
          </p:cNvPr>
          <p:cNvSpPr txBox="1"/>
          <p:nvPr/>
        </p:nvSpPr>
        <p:spPr>
          <a:xfrm>
            <a:off x="5690964" y="2004123"/>
            <a:ext cx="2812956" cy="36933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a:ea typeface="ＭＳ Ｐゴシック"/>
              </a:rPr>
              <a:t>リザルト</a:t>
            </a:r>
            <a:endParaRPr lang="en-US"/>
          </a:p>
        </p:txBody>
      </p:sp>
      <p:sp>
        <p:nvSpPr>
          <p:cNvPr id="12" name="Arrow: Down 11">
            <a:extLst>
              <a:ext uri="{FF2B5EF4-FFF2-40B4-BE49-F238E27FC236}">
                <a16:creationId xmlns:a16="http://schemas.microsoft.com/office/drawing/2014/main" id="{8E2F189D-4C9C-359E-183F-52AB16972FE3}"/>
              </a:ext>
            </a:extLst>
          </p:cNvPr>
          <p:cNvSpPr/>
          <p:nvPr/>
        </p:nvSpPr>
        <p:spPr>
          <a:xfrm>
            <a:off x="1721995" y="1415214"/>
            <a:ext cx="421764" cy="4664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Down 12">
            <a:extLst>
              <a:ext uri="{FF2B5EF4-FFF2-40B4-BE49-F238E27FC236}">
                <a16:creationId xmlns:a16="http://schemas.microsoft.com/office/drawing/2014/main" id="{75916E5B-F45E-88AD-E4E0-6C086CBDC999}"/>
              </a:ext>
            </a:extLst>
          </p:cNvPr>
          <p:cNvSpPr/>
          <p:nvPr/>
        </p:nvSpPr>
        <p:spPr>
          <a:xfrm>
            <a:off x="1717907" y="2519185"/>
            <a:ext cx="426720" cy="170737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95AD51AB-C42A-42BB-24FA-9642424C2B3C}"/>
              </a:ext>
            </a:extLst>
          </p:cNvPr>
          <p:cNvSpPr/>
          <p:nvPr/>
        </p:nvSpPr>
        <p:spPr>
          <a:xfrm>
            <a:off x="3638147" y="4346993"/>
            <a:ext cx="1818640" cy="3352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Up-Down 15">
            <a:extLst>
              <a:ext uri="{FF2B5EF4-FFF2-40B4-BE49-F238E27FC236}">
                <a16:creationId xmlns:a16="http://schemas.microsoft.com/office/drawing/2014/main" id="{2ADEACA6-C2FA-D9CB-5115-8A282D00DF05}"/>
              </a:ext>
            </a:extLst>
          </p:cNvPr>
          <p:cNvSpPr/>
          <p:nvPr/>
        </p:nvSpPr>
        <p:spPr>
          <a:xfrm rot="2700000">
            <a:off x="5785005" y="4851524"/>
            <a:ext cx="345440" cy="108712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Up-Down 16">
            <a:extLst>
              <a:ext uri="{FF2B5EF4-FFF2-40B4-BE49-F238E27FC236}">
                <a16:creationId xmlns:a16="http://schemas.microsoft.com/office/drawing/2014/main" id="{FEBA22FB-3B76-CACC-1332-5CF6F5F9659C}"/>
              </a:ext>
            </a:extLst>
          </p:cNvPr>
          <p:cNvSpPr/>
          <p:nvPr/>
        </p:nvSpPr>
        <p:spPr>
          <a:xfrm rot="8100000">
            <a:off x="7773639" y="4851524"/>
            <a:ext cx="345440" cy="108712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Up 17">
            <a:extLst>
              <a:ext uri="{FF2B5EF4-FFF2-40B4-BE49-F238E27FC236}">
                <a16:creationId xmlns:a16="http://schemas.microsoft.com/office/drawing/2014/main" id="{8FF75F1F-5ADA-0883-A2D5-72D164E21FB2}"/>
              </a:ext>
            </a:extLst>
          </p:cNvPr>
          <p:cNvSpPr/>
          <p:nvPr/>
        </p:nvSpPr>
        <p:spPr>
          <a:xfrm>
            <a:off x="6900127" y="2520052"/>
            <a:ext cx="396240" cy="170650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Left 18">
            <a:extLst>
              <a:ext uri="{FF2B5EF4-FFF2-40B4-BE49-F238E27FC236}">
                <a16:creationId xmlns:a16="http://schemas.microsoft.com/office/drawing/2014/main" id="{7FE00FE1-A8AA-41C8-7C60-54D4DEFDB02D}"/>
              </a:ext>
            </a:extLst>
          </p:cNvPr>
          <p:cNvSpPr/>
          <p:nvPr/>
        </p:nvSpPr>
        <p:spPr>
          <a:xfrm>
            <a:off x="3554265" y="2009449"/>
            <a:ext cx="1889760" cy="38607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A645021-B840-B27C-6C78-0F5B24484D6C}"/>
              </a:ext>
            </a:extLst>
          </p:cNvPr>
          <p:cNvSpPr txBox="1"/>
          <p:nvPr/>
        </p:nvSpPr>
        <p:spPr>
          <a:xfrm>
            <a:off x="7660640" y="3352800"/>
            <a:ext cx="26720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rPr>
              <a:t>5階層クリア毎</a:t>
            </a:r>
          </a:p>
        </p:txBody>
      </p:sp>
      <p:sp>
        <p:nvSpPr>
          <p:cNvPr id="10" name="Arrow: Left 9">
            <a:extLst>
              <a:ext uri="{FF2B5EF4-FFF2-40B4-BE49-F238E27FC236}">
                <a16:creationId xmlns:a16="http://schemas.microsoft.com/office/drawing/2014/main" id="{E0B40451-8AA2-D9AB-66F5-92F1B4E4A905}"/>
              </a:ext>
            </a:extLst>
          </p:cNvPr>
          <p:cNvSpPr/>
          <p:nvPr/>
        </p:nvSpPr>
        <p:spPr>
          <a:xfrm rot="1800000">
            <a:off x="3178885" y="3151318"/>
            <a:ext cx="3229887" cy="41891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3358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2553E-840E-E4BB-9CB6-3D43898ADCEC}"/>
              </a:ext>
            </a:extLst>
          </p:cNvPr>
          <p:cNvSpPr>
            <a:spLocks noGrp="1"/>
          </p:cNvSpPr>
          <p:nvPr>
            <p:ph type="title"/>
          </p:nvPr>
        </p:nvSpPr>
        <p:spPr>
          <a:xfrm>
            <a:off x="5080" y="-635"/>
            <a:ext cx="6858000" cy="665163"/>
          </a:xfrm>
        </p:spPr>
        <p:txBody>
          <a:bodyPr>
            <a:normAutofit/>
          </a:bodyPr>
          <a:lstStyle/>
          <a:p>
            <a:r>
              <a:rPr lang="ja-JP" altLang="en-US" sz="2800">
                <a:ea typeface="ＭＳ Ｐゴシック"/>
              </a:rPr>
              <a:t>マップ選択画面　＆　設計フェーズ画面</a:t>
            </a:r>
            <a:endParaRPr lang="en-US" sz="2800"/>
          </a:p>
        </p:txBody>
      </p:sp>
      <p:sp>
        <p:nvSpPr>
          <p:cNvPr id="3" name="Content Placeholder 2">
            <a:extLst>
              <a:ext uri="{FF2B5EF4-FFF2-40B4-BE49-F238E27FC236}">
                <a16:creationId xmlns:a16="http://schemas.microsoft.com/office/drawing/2014/main" id="{388B61BD-431E-D05C-5968-7736746AA97E}"/>
              </a:ext>
            </a:extLst>
          </p:cNvPr>
          <p:cNvSpPr>
            <a:spLocks noGrp="1"/>
          </p:cNvSpPr>
          <p:nvPr>
            <p:ph idx="1"/>
          </p:nvPr>
        </p:nvSpPr>
        <p:spPr>
          <a:xfrm>
            <a:off x="5080" y="799465"/>
            <a:ext cx="10505440" cy="348298"/>
          </a:xfrm>
        </p:spPr>
        <p:txBody>
          <a:bodyPr vert="horz" lIns="91440" tIns="45720" rIns="91440" bIns="45720" rtlCol="0" anchor="t">
            <a:noAutofit/>
          </a:bodyPr>
          <a:lstStyle/>
          <a:p>
            <a:pPr marL="0" indent="0">
              <a:buNone/>
            </a:pPr>
            <a:r>
              <a:rPr lang="ja-JP" altLang="en-US" sz="2000">
                <a:ea typeface="ＭＳ Ｐゴシック"/>
              </a:rPr>
              <a:t>グリッドのマップを3つのうちから選ぶ。　</a:t>
            </a:r>
          </a:p>
        </p:txBody>
      </p:sp>
      <p:sp>
        <p:nvSpPr>
          <p:cNvPr id="4" name="TextBox 3">
            <a:extLst>
              <a:ext uri="{FF2B5EF4-FFF2-40B4-BE49-F238E27FC236}">
                <a16:creationId xmlns:a16="http://schemas.microsoft.com/office/drawing/2014/main" id="{1D6BC8BA-5C63-EFB5-176E-012FC379ECE7}"/>
              </a:ext>
            </a:extLst>
          </p:cNvPr>
          <p:cNvSpPr txBox="1"/>
          <p:nvPr/>
        </p:nvSpPr>
        <p:spPr>
          <a:xfrm>
            <a:off x="-1693" y="1990513"/>
            <a:ext cx="117957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000">
                <a:ea typeface="ＭＳ Ｐゴシック"/>
              </a:rPr>
              <a:t>選んだグリッドのマップに沿ってマップのピースを当てはめていく。</a:t>
            </a:r>
          </a:p>
          <a:p>
            <a:r>
              <a:rPr lang="ja-JP" altLang="en-US" sz="2000">
                <a:ea typeface="ＭＳ Ｐゴシック"/>
              </a:rPr>
              <a:t>ピースにはそれぞれ効果がある。</a:t>
            </a:r>
          </a:p>
          <a:p>
            <a:r>
              <a:rPr lang="ja-JP" altLang="en-US" sz="2000">
                <a:ea typeface="ＭＳ Ｐゴシック"/>
              </a:rPr>
              <a:t>スタートから次の階層の入口（ゴール）をつなげる必要がある。</a:t>
            </a:r>
          </a:p>
        </p:txBody>
      </p:sp>
      <p:pic>
        <p:nvPicPr>
          <p:cNvPr id="5" name="Picture 4">
            <a:extLst>
              <a:ext uri="{FF2B5EF4-FFF2-40B4-BE49-F238E27FC236}">
                <a16:creationId xmlns:a16="http://schemas.microsoft.com/office/drawing/2014/main" id="{2F9D3C7D-9E5B-A65B-D006-7576019BBCA1}"/>
              </a:ext>
            </a:extLst>
          </p:cNvPr>
          <p:cNvPicPr>
            <a:picLocks noChangeAspect="1"/>
          </p:cNvPicPr>
          <p:nvPr/>
        </p:nvPicPr>
        <p:blipFill>
          <a:blip r:embed="rId2"/>
          <a:srcRect l="124" r="-136" b="70692"/>
          <a:stretch>
            <a:fillRect/>
          </a:stretch>
        </p:blipFill>
        <p:spPr>
          <a:xfrm>
            <a:off x="6299646" y="223520"/>
            <a:ext cx="5659922" cy="1684830"/>
          </a:xfrm>
          <a:prstGeom prst="rect">
            <a:avLst/>
          </a:prstGeom>
        </p:spPr>
      </p:pic>
      <p:pic>
        <p:nvPicPr>
          <p:cNvPr id="6" name="Picture 5">
            <a:extLst>
              <a:ext uri="{FF2B5EF4-FFF2-40B4-BE49-F238E27FC236}">
                <a16:creationId xmlns:a16="http://schemas.microsoft.com/office/drawing/2014/main" id="{8FB90679-814E-EAE8-659F-6DCED75529D9}"/>
              </a:ext>
            </a:extLst>
          </p:cNvPr>
          <p:cNvPicPr>
            <a:picLocks noChangeAspect="1"/>
          </p:cNvPicPr>
          <p:nvPr/>
        </p:nvPicPr>
        <p:blipFill>
          <a:blip r:embed="rId3"/>
          <a:stretch>
            <a:fillRect/>
          </a:stretch>
        </p:blipFill>
        <p:spPr>
          <a:xfrm>
            <a:off x="617530" y="3291840"/>
            <a:ext cx="3220720" cy="3220720"/>
          </a:xfrm>
          <a:prstGeom prst="rect">
            <a:avLst/>
          </a:prstGeom>
        </p:spPr>
      </p:pic>
      <p:pic>
        <p:nvPicPr>
          <p:cNvPr id="7" name="Picture 6">
            <a:extLst>
              <a:ext uri="{FF2B5EF4-FFF2-40B4-BE49-F238E27FC236}">
                <a16:creationId xmlns:a16="http://schemas.microsoft.com/office/drawing/2014/main" id="{AF30C5FB-3103-63F5-2CE9-D63DCAAF5B43}"/>
              </a:ext>
            </a:extLst>
          </p:cNvPr>
          <p:cNvPicPr>
            <a:picLocks noChangeAspect="1"/>
          </p:cNvPicPr>
          <p:nvPr/>
        </p:nvPicPr>
        <p:blipFill>
          <a:blip r:embed="rId4"/>
          <a:srcRect l="164" t="51803" r="20294" b="23770"/>
          <a:stretch>
            <a:fillRect/>
          </a:stretch>
        </p:blipFill>
        <p:spPr>
          <a:xfrm>
            <a:off x="5969000" y="5344160"/>
            <a:ext cx="4937772" cy="1513852"/>
          </a:xfrm>
          <a:prstGeom prst="rect">
            <a:avLst/>
          </a:prstGeom>
        </p:spPr>
      </p:pic>
      <p:pic>
        <p:nvPicPr>
          <p:cNvPr id="8" name="Picture 7">
            <a:extLst>
              <a:ext uri="{FF2B5EF4-FFF2-40B4-BE49-F238E27FC236}">
                <a16:creationId xmlns:a16="http://schemas.microsoft.com/office/drawing/2014/main" id="{E40FC28D-B7D4-6E47-0E5F-072D913D04EA}"/>
              </a:ext>
            </a:extLst>
          </p:cNvPr>
          <p:cNvPicPr>
            <a:picLocks noChangeAspect="1"/>
          </p:cNvPicPr>
          <p:nvPr/>
        </p:nvPicPr>
        <p:blipFill>
          <a:blip r:embed="rId4"/>
          <a:srcRect l="148" r="73407" b="75407"/>
          <a:stretch>
            <a:fillRect/>
          </a:stretch>
        </p:blipFill>
        <p:spPr>
          <a:xfrm>
            <a:off x="7005320" y="3149600"/>
            <a:ext cx="1813565" cy="1686561"/>
          </a:xfrm>
          <a:prstGeom prst="rect">
            <a:avLst/>
          </a:prstGeom>
        </p:spPr>
      </p:pic>
      <p:pic>
        <p:nvPicPr>
          <p:cNvPr id="9" name="Picture 8">
            <a:extLst>
              <a:ext uri="{FF2B5EF4-FFF2-40B4-BE49-F238E27FC236}">
                <a16:creationId xmlns:a16="http://schemas.microsoft.com/office/drawing/2014/main" id="{BA79ECBA-432B-5455-48F1-D576C905A6CA}"/>
              </a:ext>
            </a:extLst>
          </p:cNvPr>
          <p:cNvPicPr>
            <a:picLocks noChangeAspect="1"/>
          </p:cNvPicPr>
          <p:nvPr/>
        </p:nvPicPr>
        <p:blipFill>
          <a:blip r:embed="rId4"/>
          <a:srcRect l="28000" t="-9" r="47179" b="75417"/>
          <a:stretch>
            <a:fillRect/>
          </a:stretch>
        </p:blipFill>
        <p:spPr>
          <a:xfrm>
            <a:off x="8813800" y="3148965"/>
            <a:ext cx="1702259" cy="1686567"/>
          </a:xfrm>
          <a:prstGeom prst="rect">
            <a:avLst/>
          </a:prstGeom>
        </p:spPr>
      </p:pic>
      <p:pic>
        <p:nvPicPr>
          <p:cNvPr id="10" name="Picture 9">
            <a:extLst>
              <a:ext uri="{FF2B5EF4-FFF2-40B4-BE49-F238E27FC236}">
                <a16:creationId xmlns:a16="http://schemas.microsoft.com/office/drawing/2014/main" id="{A92904C4-1A18-3522-59DA-3645D26DD5CA}"/>
              </a:ext>
            </a:extLst>
          </p:cNvPr>
          <p:cNvPicPr>
            <a:picLocks noChangeAspect="1"/>
          </p:cNvPicPr>
          <p:nvPr/>
        </p:nvPicPr>
        <p:blipFill>
          <a:blip r:embed="rId4"/>
          <a:srcRect l="148" t="25000" r="73481" b="51568"/>
          <a:stretch>
            <a:fillRect/>
          </a:stretch>
        </p:blipFill>
        <p:spPr>
          <a:xfrm>
            <a:off x="5196840" y="3228340"/>
            <a:ext cx="1808490" cy="1606974"/>
          </a:xfrm>
          <a:prstGeom prst="rect">
            <a:avLst/>
          </a:prstGeom>
        </p:spPr>
      </p:pic>
      <p:sp>
        <p:nvSpPr>
          <p:cNvPr id="11" name="TextBox 10">
            <a:extLst>
              <a:ext uri="{FF2B5EF4-FFF2-40B4-BE49-F238E27FC236}">
                <a16:creationId xmlns:a16="http://schemas.microsoft.com/office/drawing/2014/main" id="{9B386BA0-8DFB-7EBD-F06F-567A3DB07AB3}"/>
              </a:ext>
            </a:extLst>
          </p:cNvPr>
          <p:cNvSpPr txBox="1"/>
          <p:nvPr/>
        </p:nvSpPr>
        <p:spPr>
          <a:xfrm>
            <a:off x="5466080" y="4734559"/>
            <a:ext cx="1259840" cy="33855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600">
                <a:ea typeface="ＭＳ Ｐゴシック"/>
              </a:rPr>
              <a:t>トラップ</a:t>
            </a:r>
            <a:endParaRPr lang="en-US" sz="1600">
              <a:ea typeface="ＭＳ Ｐゴシック"/>
            </a:endParaRPr>
          </a:p>
        </p:txBody>
      </p:sp>
      <p:sp>
        <p:nvSpPr>
          <p:cNvPr id="12" name="TextBox 11">
            <a:extLst>
              <a:ext uri="{FF2B5EF4-FFF2-40B4-BE49-F238E27FC236}">
                <a16:creationId xmlns:a16="http://schemas.microsoft.com/office/drawing/2014/main" id="{73A6164A-5EEC-5FA4-61CB-A6CCC9E23C63}"/>
              </a:ext>
            </a:extLst>
          </p:cNvPr>
          <p:cNvSpPr txBox="1"/>
          <p:nvPr/>
        </p:nvSpPr>
        <p:spPr>
          <a:xfrm>
            <a:off x="7396480" y="4734560"/>
            <a:ext cx="1188720" cy="33855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600">
                <a:ea typeface="ＭＳ Ｐゴシック"/>
              </a:rPr>
              <a:t>エネミー</a:t>
            </a:r>
            <a:endParaRPr lang="en-US" sz="1600">
              <a:ea typeface="ＭＳ Ｐゴシック"/>
            </a:endParaRPr>
          </a:p>
        </p:txBody>
      </p:sp>
      <p:sp>
        <p:nvSpPr>
          <p:cNvPr id="13" name="TextBox 12">
            <a:extLst>
              <a:ext uri="{FF2B5EF4-FFF2-40B4-BE49-F238E27FC236}">
                <a16:creationId xmlns:a16="http://schemas.microsoft.com/office/drawing/2014/main" id="{805A600E-534B-4A8B-C1F2-C74E74BB47B5}"/>
              </a:ext>
            </a:extLst>
          </p:cNvPr>
          <p:cNvSpPr txBox="1"/>
          <p:nvPr/>
        </p:nvSpPr>
        <p:spPr>
          <a:xfrm>
            <a:off x="9225280" y="4734560"/>
            <a:ext cx="1036319" cy="338554"/>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600">
                <a:ea typeface="ＭＳ Ｐゴシック"/>
              </a:rPr>
              <a:t>ショップ</a:t>
            </a:r>
            <a:endParaRPr lang="en-US" sz="1600">
              <a:ea typeface="ＭＳ Ｐゴシック"/>
            </a:endParaRPr>
          </a:p>
        </p:txBody>
      </p:sp>
      <p:sp>
        <p:nvSpPr>
          <p:cNvPr id="14" name="Arrow: Curved Left 13">
            <a:extLst>
              <a:ext uri="{FF2B5EF4-FFF2-40B4-BE49-F238E27FC236}">
                <a16:creationId xmlns:a16="http://schemas.microsoft.com/office/drawing/2014/main" id="{37CBDDBD-E7CB-5F31-7785-FC0A4AFDF4DE}"/>
              </a:ext>
            </a:extLst>
          </p:cNvPr>
          <p:cNvSpPr/>
          <p:nvPr/>
        </p:nvSpPr>
        <p:spPr>
          <a:xfrm rot="3660000">
            <a:off x="4754879" y="5293360"/>
            <a:ext cx="579120" cy="1615440"/>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32821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91545-9CB9-86E0-860F-B360F1B5881F}"/>
              </a:ext>
            </a:extLst>
          </p:cNvPr>
          <p:cNvSpPr>
            <a:spLocks noGrp="1"/>
          </p:cNvSpPr>
          <p:nvPr>
            <p:ph type="title"/>
          </p:nvPr>
        </p:nvSpPr>
        <p:spPr>
          <a:xfrm>
            <a:off x="5080" y="-635"/>
            <a:ext cx="10505440" cy="665163"/>
          </a:xfrm>
        </p:spPr>
        <p:txBody>
          <a:bodyPr>
            <a:normAutofit/>
          </a:bodyPr>
          <a:lstStyle/>
          <a:p>
            <a:r>
              <a:rPr lang="ja-JP" altLang="en-US" sz="2800">
                <a:ea typeface="ＭＳ Ｐゴシック"/>
              </a:rPr>
              <a:t>攻略フェーズ画面</a:t>
            </a:r>
          </a:p>
        </p:txBody>
      </p:sp>
      <p:sp>
        <p:nvSpPr>
          <p:cNvPr id="3" name="Content Placeholder 2">
            <a:extLst>
              <a:ext uri="{FF2B5EF4-FFF2-40B4-BE49-F238E27FC236}">
                <a16:creationId xmlns:a16="http://schemas.microsoft.com/office/drawing/2014/main" id="{946FEB18-81AE-0A92-FF4A-474F260EBA6E}"/>
              </a:ext>
            </a:extLst>
          </p:cNvPr>
          <p:cNvSpPr>
            <a:spLocks noGrp="1"/>
          </p:cNvSpPr>
          <p:nvPr>
            <p:ph idx="1"/>
          </p:nvPr>
        </p:nvSpPr>
        <p:spPr>
          <a:xfrm>
            <a:off x="-5080" y="992505"/>
            <a:ext cx="10515600" cy="1608138"/>
          </a:xfrm>
        </p:spPr>
        <p:txBody>
          <a:bodyPr vert="horz" lIns="91440" tIns="45720" rIns="91440" bIns="45720" rtlCol="0" anchor="t">
            <a:normAutofit/>
          </a:bodyPr>
          <a:lstStyle/>
          <a:p>
            <a:pPr marL="0" indent="0">
              <a:buNone/>
            </a:pPr>
            <a:r>
              <a:rPr lang="ja-JP" altLang="en-US" sz="2000">
                <a:ea typeface="ＭＳ Ｐゴシック"/>
              </a:rPr>
              <a:t>スタートから次の階層の入口（ゴール）に向かうこと</a:t>
            </a:r>
          </a:p>
          <a:p>
            <a:pPr marL="0" indent="0">
              <a:buNone/>
            </a:pPr>
            <a:endParaRPr lang="ja-JP" altLang="en-US" sz="2000">
              <a:ea typeface="ＭＳ Ｐゴシック"/>
            </a:endParaRPr>
          </a:p>
          <a:p>
            <a:pPr marL="0" indent="0">
              <a:buNone/>
            </a:pPr>
            <a:r>
              <a:rPr lang="ja-JP" altLang="en-US" sz="2000">
                <a:ea typeface="ＭＳ Ｐゴシック"/>
              </a:rPr>
              <a:t>マップピースの効果に応じて、作ったステージの難易度は大きくかわる。</a:t>
            </a:r>
            <a:endParaRPr lang="en-US" sz="2000">
              <a:ea typeface="ＭＳ Ｐゴシック"/>
            </a:endParaRPr>
          </a:p>
          <a:p>
            <a:pPr marL="0" indent="0">
              <a:buNone/>
            </a:pPr>
            <a:r>
              <a:rPr lang="ja-JP" altLang="en-US" sz="2000">
                <a:ea typeface="ＭＳ Ｐゴシック"/>
              </a:rPr>
              <a:t>敵エリア　トラップエリア　のようなものはプレイヤーを攻撃し　HPが０になればゲームオーバー</a:t>
            </a:r>
          </a:p>
        </p:txBody>
      </p:sp>
      <p:pic>
        <p:nvPicPr>
          <p:cNvPr id="4" name="Picture 3">
            <a:extLst>
              <a:ext uri="{FF2B5EF4-FFF2-40B4-BE49-F238E27FC236}">
                <a16:creationId xmlns:a16="http://schemas.microsoft.com/office/drawing/2014/main" id="{993A066D-533D-84FC-F14F-E850A127BB40}"/>
              </a:ext>
            </a:extLst>
          </p:cNvPr>
          <p:cNvPicPr>
            <a:picLocks noChangeAspect="1"/>
          </p:cNvPicPr>
          <p:nvPr/>
        </p:nvPicPr>
        <p:blipFill>
          <a:blip r:embed="rId2"/>
          <a:stretch>
            <a:fillRect/>
          </a:stretch>
        </p:blipFill>
        <p:spPr>
          <a:xfrm>
            <a:off x="228600" y="2133600"/>
            <a:ext cx="6370320" cy="6370320"/>
          </a:xfrm>
          <a:prstGeom prst="rect">
            <a:avLst/>
          </a:prstGeom>
        </p:spPr>
      </p:pic>
      <p:pic>
        <p:nvPicPr>
          <p:cNvPr id="5" name="Picture 4">
            <a:extLst>
              <a:ext uri="{FF2B5EF4-FFF2-40B4-BE49-F238E27FC236}">
                <a16:creationId xmlns:a16="http://schemas.microsoft.com/office/drawing/2014/main" id="{D39D3DC1-77B5-D679-8C9C-786463E683D2}"/>
              </a:ext>
            </a:extLst>
          </p:cNvPr>
          <p:cNvPicPr>
            <a:picLocks noChangeAspect="1"/>
          </p:cNvPicPr>
          <p:nvPr/>
        </p:nvPicPr>
        <p:blipFill>
          <a:blip r:embed="rId3"/>
          <a:stretch>
            <a:fillRect/>
          </a:stretch>
        </p:blipFill>
        <p:spPr>
          <a:xfrm>
            <a:off x="2133600" y="4028440"/>
            <a:ext cx="914400" cy="914400"/>
          </a:xfrm>
          <a:prstGeom prst="rect">
            <a:avLst/>
          </a:prstGeom>
        </p:spPr>
      </p:pic>
      <p:sp>
        <p:nvSpPr>
          <p:cNvPr id="6" name="TextBox 5">
            <a:extLst>
              <a:ext uri="{FF2B5EF4-FFF2-40B4-BE49-F238E27FC236}">
                <a16:creationId xmlns:a16="http://schemas.microsoft.com/office/drawing/2014/main" id="{7F45CC6C-56CF-AE68-CFF3-B5F341174C55}"/>
              </a:ext>
            </a:extLst>
          </p:cNvPr>
          <p:cNvSpPr txBox="1"/>
          <p:nvPr/>
        </p:nvSpPr>
        <p:spPr>
          <a:xfrm>
            <a:off x="6959600" y="6492239"/>
            <a:ext cx="30683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rPr>
              <a:t>画像はイメージです</a:t>
            </a:r>
            <a:endParaRPr lang="en-US"/>
          </a:p>
        </p:txBody>
      </p:sp>
      <p:pic>
        <p:nvPicPr>
          <p:cNvPr id="7" name="Picture 6">
            <a:extLst>
              <a:ext uri="{FF2B5EF4-FFF2-40B4-BE49-F238E27FC236}">
                <a16:creationId xmlns:a16="http://schemas.microsoft.com/office/drawing/2014/main" id="{15779669-B9A1-D49A-138B-9F9046435B31}"/>
              </a:ext>
            </a:extLst>
          </p:cNvPr>
          <p:cNvPicPr>
            <a:picLocks noChangeAspect="1"/>
          </p:cNvPicPr>
          <p:nvPr/>
        </p:nvPicPr>
        <p:blipFill>
          <a:blip r:embed="rId4"/>
          <a:stretch>
            <a:fillRect/>
          </a:stretch>
        </p:blipFill>
        <p:spPr>
          <a:xfrm>
            <a:off x="2966720" y="5745480"/>
            <a:ext cx="914400" cy="914400"/>
          </a:xfrm>
          <a:prstGeom prst="rect">
            <a:avLst/>
          </a:prstGeom>
        </p:spPr>
      </p:pic>
      <p:pic>
        <p:nvPicPr>
          <p:cNvPr id="8" name="Picture 7">
            <a:extLst>
              <a:ext uri="{FF2B5EF4-FFF2-40B4-BE49-F238E27FC236}">
                <a16:creationId xmlns:a16="http://schemas.microsoft.com/office/drawing/2014/main" id="{D134F0E9-0D26-8BF0-A223-4A20D82ABD87}"/>
              </a:ext>
            </a:extLst>
          </p:cNvPr>
          <p:cNvPicPr>
            <a:picLocks noChangeAspect="1"/>
          </p:cNvPicPr>
          <p:nvPr/>
        </p:nvPicPr>
        <p:blipFill>
          <a:blip r:embed="rId4"/>
          <a:stretch>
            <a:fillRect/>
          </a:stretch>
        </p:blipFill>
        <p:spPr>
          <a:xfrm>
            <a:off x="1463040" y="5288280"/>
            <a:ext cx="914400" cy="914400"/>
          </a:xfrm>
          <a:prstGeom prst="rect">
            <a:avLst/>
          </a:prstGeom>
        </p:spPr>
      </p:pic>
      <p:sp>
        <p:nvSpPr>
          <p:cNvPr id="9" name="TextBox 8">
            <a:extLst>
              <a:ext uri="{FF2B5EF4-FFF2-40B4-BE49-F238E27FC236}">
                <a16:creationId xmlns:a16="http://schemas.microsoft.com/office/drawing/2014/main" id="{3B48CAE2-925A-0C2C-A0D3-182E96148B0E}"/>
              </a:ext>
            </a:extLst>
          </p:cNvPr>
          <p:cNvSpPr txBox="1"/>
          <p:nvPr/>
        </p:nvSpPr>
        <p:spPr>
          <a:xfrm>
            <a:off x="2082800" y="6400800"/>
            <a:ext cx="965200" cy="379492"/>
          </a:xfrm>
          <a:prstGeom prst="rect">
            <a:avLst/>
          </a:prstGeom>
          <a:solidFill>
            <a:srgbClr val="ED7D31"/>
          </a:solidFill>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solidFill>
                  <a:schemeClr val="bg1"/>
                </a:solidFill>
                <a:ea typeface="ＭＳ Ｐゴシック"/>
              </a:rPr>
              <a:t>Enemy</a:t>
            </a:r>
          </a:p>
        </p:txBody>
      </p:sp>
      <p:sp>
        <p:nvSpPr>
          <p:cNvPr id="11" name="TextBox 10">
            <a:extLst>
              <a:ext uri="{FF2B5EF4-FFF2-40B4-BE49-F238E27FC236}">
                <a16:creationId xmlns:a16="http://schemas.microsoft.com/office/drawing/2014/main" id="{DC254E6C-4A28-C6D3-5424-5F96BD4F2B9B}"/>
              </a:ext>
            </a:extLst>
          </p:cNvPr>
          <p:cNvSpPr txBox="1"/>
          <p:nvPr/>
        </p:nvSpPr>
        <p:spPr>
          <a:xfrm>
            <a:off x="2133600" y="3667760"/>
            <a:ext cx="965200" cy="379492"/>
          </a:xfrm>
          <a:prstGeom prst="rect">
            <a:avLst/>
          </a:prstGeom>
          <a:solidFill>
            <a:srgbClr val="ED7D31"/>
          </a:solidFill>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solidFill>
                  <a:schemeClr val="bg1"/>
                </a:solidFill>
                <a:ea typeface="ＭＳ Ｐゴシック"/>
              </a:rPr>
              <a:t>Player</a:t>
            </a:r>
          </a:p>
        </p:txBody>
      </p:sp>
    </p:spTree>
    <p:extLst>
      <p:ext uri="{BB962C8B-B14F-4D97-AF65-F5344CB8AC3E}">
        <p14:creationId xmlns:p14="http://schemas.microsoft.com/office/powerpoint/2010/main" val="12527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022C5-88BD-5492-903D-3E214E1EADC0}"/>
              </a:ext>
            </a:extLst>
          </p:cNvPr>
          <p:cNvSpPr>
            <a:spLocks noGrp="1"/>
          </p:cNvSpPr>
          <p:nvPr>
            <p:ph type="title"/>
          </p:nvPr>
        </p:nvSpPr>
        <p:spPr>
          <a:xfrm>
            <a:off x="1859" y="2710"/>
            <a:ext cx="10515600" cy="544978"/>
          </a:xfrm>
        </p:spPr>
        <p:txBody>
          <a:bodyPr/>
          <a:lstStyle/>
          <a:p>
            <a:r>
              <a:rPr lang="ja-JP" altLang="en-US" sz="2800">
                <a:ea typeface="ＭＳ Ｐゴシック"/>
              </a:rPr>
              <a:t>ショップ画面　＆　インベントリ画面</a:t>
            </a:r>
          </a:p>
        </p:txBody>
      </p:sp>
      <p:sp>
        <p:nvSpPr>
          <p:cNvPr id="3" name="Content Placeholder 2">
            <a:extLst>
              <a:ext uri="{FF2B5EF4-FFF2-40B4-BE49-F238E27FC236}">
                <a16:creationId xmlns:a16="http://schemas.microsoft.com/office/drawing/2014/main" id="{E747E533-8F79-6EB3-4A25-3BE8B431DD6F}"/>
              </a:ext>
            </a:extLst>
          </p:cNvPr>
          <p:cNvSpPr>
            <a:spLocks noGrp="1"/>
          </p:cNvSpPr>
          <p:nvPr>
            <p:ph idx="1"/>
          </p:nvPr>
        </p:nvSpPr>
        <p:spPr>
          <a:xfrm>
            <a:off x="1859" y="803430"/>
            <a:ext cx="10515600" cy="810826"/>
          </a:xfrm>
        </p:spPr>
        <p:txBody>
          <a:bodyPr vert="horz" lIns="91440" tIns="45720" rIns="91440" bIns="45720" rtlCol="0" anchor="t">
            <a:normAutofit/>
          </a:bodyPr>
          <a:lstStyle/>
          <a:p>
            <a:pPr marL="0" indent="0">
              <a:buNone/>
            </a:pPr>
            <a:r>
              <a:rPr lang="ja-JP" altLang="en-US" sz="2000">
                <a:ea typeface="ＭＳ Ｐゴシック"/>
              </a:rPr>
              <a:t>マップピースの効果にショップがある場合、そのエリアにショップが置かれる。</a:t>
            </a:r>
          </a:p>
          <a:p>
            <a:pPr marL="0" indent="0">
              <a:buNone/>
            </a:pPr>
            <a:r>
              <a:rPr lang="ja-JP" altLang="en-US" sz="2000">
                <a:ea typeface="ＭＳ Ｐゴシック"/>
              </a:rPr>
              <a:t>ショップではアイテムをお金で購入できる。</a:t>
            </a:r>
          </a:p>
        </p:txBody>
      </p:sp>
      <p:sp>
        <p:nvSpPr>
          <p:cNvPr id="4" name="TextBox 3">
            <a:extLst>
              <a:ext uri="{FF2B5EF4-FFF2-40B4-BE49-F238E27FC236}">
                <a16:creationId xmlns:a16="http://schemas.microsoft.com/office/drawing/2014/main" id="{37F6A89F-5201-DCAA-C65C-CE15F6EE722E}"/>
              </a:ext>
            </a:extLst>
          </p:cNvPr>
          <p:cNvSpPr txBox="1"/>
          <p:nvPr/>
        </p:nvSpPr>
        <p:spPr>
          <a:xfrm>
            <a:off x="516" y="3230498"/>
            <a:ext cx="1110191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000">
                <a:ea typeface="ＭＳ Ｐゴシック"/>
              </a:rPr>
              <a:t>インベントリ画面ではアイテムを確認することができる。</a:t>
            </a:r>
            <a:endParaRPr lang="en-US" sz="2000"/>
          </a:p>
        </p:txBody>
      </p:sp>
      <p:sp>
        <p:nvSpPr>
          <p:cNvPr id="5" name="Rectangle 4">
            <a:extLst>
              <a:ext uri="{FF2B5EF4-FFF2-40B4-BE49-F238E27FC236}">
                <a16:creationId xmlns:a16="http://schemas.microsoft.com/office/drawing/2014/main" id="{AE071116-8478-BD8B-9293-FFAAA63B6DF3}"/>
              </a:ext>
            </a:extLst>
          </p:cNvPr>
          <p:cNvSpPr/>
          <p:nvPr/>
        </p:nvSpPr>
        <p:spPr>
          <a:xfrm>
            <a:off x="924560" y="4236720"/>
            <a:ext cx="6725920" cy="2509519"/>
          </a:xfrm>
          <a:prstGeom prst="rect">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ylinder 5">
            <a:extLst>
              <a:ext uri="{FF2B5EF4-FFF2-40B4-BE49-F238E27FC236}">
                <a16:creationId xmlns:a16="http://schemas.microsoft.com/office/drawing/2014/main" id="{EE96A12A-FFE4-4771-87CA-6FF33E3A3C5B}"/>
              </a:ext>
            </a:extLst>
          </p:cNvPr>
          <p:cNvSpPr/>
          <p:nvPr/>
        </p:nvSpPr>
        <p:spPr>
          <a:xfrm>
            <a:off x="1056640" y="4368800"/>
            <a:ext cx="386080" cy="508000"/>
          </a:xfrm>
          <a:prstGeom prst="can">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ightning Bolt 6">
            <a:extLst>
              <a:ext uri="{FF2B5EF4-FFF2-40B4-BE49-F238E27FC236}">
                <a16:creationId xmlns:a16="http://schemas.microsoft.com/office/drawing/2014/main" id="{176F6202-F059-F220-16E3-10CFE277DCB8}"/>
              </a:ext>
            </a:extLst>
          </p:cNvPr>
          <p:cNvSpPr/>
          <p:nvPr/>
        </p:nvSpPr>
        <p:spPr>
          <a:xfrm>
            <a:off x="1625600" y="4368799"/>
            <a:ext cx="416560" cy="508000"/>
          </a:xfrm>
          <a:prstGeom prst="lightningBol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un 7">
            <a:extLst>
              <a:ext uri="{FF2B5EF4-FFF2-40B4-BE49-F238E27FC236}">
                <a16:creationId xmlns:a16="http://schemas.microsoft.com/office/drawing/2014/main" id="{A871AD6D-DA12-85BD-4C21-8F4580F35872}"/>
              </a:ext>
            </a:extLst>
          </p:cNvPr>
          <p:cNvSpPr/>
          <p:nvPr/>
        </p:nvSpPr>
        <p:spPr>
          <a:xfrm>
            <a:off x="2174240" y="4368800"/>
            <a:ext cx="426720" cy="508000"/>
          </a:xfrm>
          <a:prstGeom prst="sun">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Left 8">
            <a:extLst>
              <a:ext uri="{FF2B5EF4-FFF2-40B4-BE49-F238E27FC236}">
                <a16:creationId xmlns:a16="http://schemas.microsoft.com/office/drawing/2014/main" id="{F0BA012B-29D1-03F2-D78A-B598846E2056}"/>
              </a:ext>
            </a:extLst>
          </p:cNvPr>
          <p:cNvSpPr/>
          <p:nvPr/>
        </p:nvSpPr>
        <p:spPr>
          <a:xfrm rot="2520000">
            <a:off x="2357120" y="4693919"/>
            <a:ext cx="335280" cy="294640"/>
          </a:xfrm>
          <a:prstGeom prst="lef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E1DF487-A803-0551-FBD7-5E349CF94AF9}"/>
              </a:ext>
            </a:extLst>
          </p:cNvPr>
          <p:cNvSpPr/>
          <p:nvPr/>
        </p:nvSpPr>
        <p:spPr>
          <a:xfrm>
            <a:off x="2743200" y="4622800"/>
            <a:ext cx="2540000" cy="139192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87EB4FE-628E-4B02-2802-A7430B7CAD46}"/>
              </a:ext>
            </a:extLst>
          </p:cNvPr>
          <p:cNvSpPr txBox="1"/>
          <p:nvPr/>
        </p:nvSpPr>
        <p:spPr>
          <a:xfrm>
            <a:off x="2743200" y="4622800"/>
            <a:ext cx="1778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t>アイテム名</a:t>
            </a:r>
          </a:p>
          <a:p>
            <a:r>
              <a:rPr lang="ja-JP" altLang="en-US">
                <a:ea typeface="ＭＳ Ｐゴシック"/>
              </a:rPr>
              <a:t>アイテム詳細</a:t>
            </a:r>
          </a:p>
        </p:txBody>
      </p:sp>
      <p:sp>
        <p:nvSpPr>
          <p:cNvPr id="12" name="Rectangle 11">
            <a:extLst>
              <a:ext uri="{FF2B5EF4-FFF2-40B4-BE49-F238E27FC236}">
                <a16:creationId xmlns:a16="http://schemas.microsoft.com/office/drawing/2014/main" id="{0A3005F0-4D2F-5BF9-EB44-C97CE13BC8AA}"/>
              </a:ext>
            </a:extLst>
          </p:cNvPr>
          <p:cNvSpPr/>
          <p:nvPr/>
        </p:nvSpPr>
        <p:spPr>
          <a:xfrm>
            <a:off x="1097280" y="6085840"/>
            <a:ext cx="6339840" cy="49784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5 Points 12">
            <a:extLst>
              <a:ext uri="{FF2B5EF4-FFF2-40B4-BE49-F238E27FC236}">
                <a16:creationId xmlns:a16="http://schemas.microsoft.com/office/drawing/2014/main" id="{7C31823F-82DB-A1A7-C692-0048E7A2B505}"/>
              </a:ext>
            </a:extLst>
          </p:cNvPr>
          <p:cNvSpPr/>
          <p:nvPr/>
        </p:nvSpPr>
        <p:spPr>
          <a:xfrm>
            <a:off x="1158240" y="6167120"/>
            <a:ext cx="386080" cy="314960"/>
          </a:xfrm>
          <a:prstGeom prst="star5">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2456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F9330-4FD1-3914-6BE0-784C2AA75264}"/>
              </a:ext>
            </a:extLst>
          </p:cNvPr>
          <p:cNvSpPr>
            <a:spLocks noGrp="1"/>
          </p:cNvSpPr>
          <p:nvPr>
            <p:ph type="title"/>
          </p:nvPr>
        </p:nvSpPr>
        <p:spPr>
          <a:xfrm>
            <a:off x="1859" y="2710"/>
            <a:ext cx="10515600" cy="749417"/>
          </a:xfrm>
        </p:spPr>
        <p:txBody>
          <a:bodyPr>
            <a:normAutofit/>
          </a:bodyPr>
          <a:lstStyle/>
          <a:p>
            <a:r>
              <a:rPr lang="ja-JP" altLang="en-US" sz="2800">
                <a:ea typeface="ＭＳ Ｐゴシック"/>
              </a:rPr>
              <a:t>途中目標</a:t>
            </a:r>
            <a:endParaRPr kumimoji="1" lang="en-US" sz="2800">
              <a:ea typeface="ＭＳ Ｐゴシック"/>
            </a:endParaRPr>
          </a:p>
        </p:txBody>
      </p:sp>
      <p:sp>
        <p:nvSpPr>
          <p:cNvPr id="3" name="Content Placeholder 2">
            <a:extLst>
              <a:ext uri="{FF2B5EF4-FFF2-40B4-BE49-F238E27FC236}">
                <a16:creationId xmlns:a16="http://schemas.microsoft.com/office/drawing/2014/main" id="{EC723999-83AE-2AE3-6D01-B252B6D04696}"/>
              </a:ext>
            </a:extLst>
          </p:cNvPr>
          <p:cNvSpPr>
            <a:spLocks noGrp="1"/>
          </p:cNvSpPr>
          <p:nvPr>
            <p:ph idx="1"/>
          </p:nvPr>
        </p:nvSpPr>
        <p:spPr>
          <a:xfrm>
            <a:off x="1859" y="756966"/>
            <a:ext cx="10515600" cy="736485"/>
          </a:xfrm>
        </p:spPr>
        <p:txBody>
          <a:bodyPr vert="horz" lIns="91440" tIns="45720" rIns="91440" bIns="45720" rtlCol="0" anchor="t">
            <a:normAutofit/>
          </a:bodyPr>
          <a:lstStyle/>
          <a:p>
            <a:pPr marL="0" indent="0">
              <a:buNone/>
            </a:pPr>
            <a:r>
              <a:rPr lang="ja-JP" altLang="en-US" sz="2000">
                <a:ea typeface="ＭＳ Ｐゴシック"/>
              </a:rPr>
              <a:t>敵を倒さないでも次の階層（ゴール）へ行けばゴールとなるが、ここで5階層目（５の倍数の階層）ではゴールは鍵付きになる。</a:t>
            </a:r>
          </a:p>
        </p:txBody>
      </p:sp>
      <p:sp>
        <p:nvSpPr>
          <p:cNvPr id="4" name="TextBox 3">
            <a:extLst>
              <a:ext uri="{FF2B5EF4-FFF2-40B4-BE49-F238E27FC236}">
                <a16:creationId xmlns:a16="http://schemas.microsoft.com/office/drawing/2014/main" id="{4D91EF39-5EB8-8CDA-0444-B0B0F3911B47}"/>
              </a:ext>
            </a:extLst>
          </p:cNvPr>
          <p:cNvSpPr txBox="1"/>
          <p:nvPr/>
        </p:nvSpPr>
        <p:spPr>
          <a:xfrm>
            <a:off x="345440" y="3291840"/>
            <a:ext cx="7325360" cy="1960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066014CD-FB50-A923-2623-E75FB5788E13}"/>
              </a:ext>
            </a:extLst>
          </p:cNvPr>
          <p:cNvSpPr txBox="1"/>
          <p:nvPr/>
        </p:nvSpPr>
        <p:spPr>
          <a:xfrm>
            <a:off x="-1239" y="3108093"/>
            <a:ext cx="1052278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000">
                <a:ea typeface="ＭＳ Ｐゴシック"/>
              </a:rPr>
              <a:t>鍵の入手には鍵マークのピースを置く必要があるが、そのピースにはボスがいる。</a:t>
            </a:r>
          </a:p>
          <a:p>
            <a:r>
              <a:rPr lang="ja-JP" altLang="en-US" sz="2000">
                <a:ea typeface="ＭＳ Ｐゴシック"/>
              </a:rPr>
              <a:t>敵を倒さずお金のないプレイヤーは強化できず、ボスに苦戦する。</a:t>
            </a:r>
          </a:p>
        </p:txBody>
      </p:sp>
      <p:sp>
        <p:nvSpPr>
          <p:cNvPr id="6" name="TextBox 5">
            <a:extLst>
              <a:ext uri="{FF2B5EF4-FFF2-40B4-BE49-F238E27FC236}">
                <a16:creationId xmlns:a16="http://schemas.microsoft.com/office/drawing/2014/main" id="{0D8F246D-F6A7-3C11-0F57-BCC7F792501E}"/>
              </a:ext>
            </a:extLst>
          </p:cNvPr>
          <p:cNvSpPr txBox="1"/>
          <p:nvPr/>
        </p:nvSpPr>
        <p:spPr>
          <a:xfrm>
            <a:off x="21166" y="6212417"/>
            <a:ext cx="12107333" cy="560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6C4C96AC-F8CB-529B-3945-FD26EC1EAF42}"/>
              </a:ext>
            </a:extLst>
          </p:cNvPr>
          <p:cNvSpPr txBox="1"/>
          <p:nvPr/>
        </p:nvSpPr>
        <p:spPr>
          <a:xfrm>
            <a:off x="22198" y="6060378"/>
            <a:ext cx="797983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000">
                <a:ea typeface="ＭＳ Ｐゴシック"/>
              </a:rPr>
              <a:t>5階層目クリアでリザルトを挟む。</a:t>
            </a:r>
          </a:p>
          <a:p>
            <a:r>
              <a:rPr lang="ja-JP" altLang="en-US" sz="2000">
                <a:ea typeface="ＭＳ Ｐゴシック"/>
              </a:rPr>
              <a:t>エンドレスでもいいし、クリア階層を決めてもいい（30階層でクリア）</a:t>
            </a:r>
          </a:p>
        </p:txBody>
      </p:sp>
    </p:spTree>
    <p:extLst>
      <p:ext uri="{BB962C8B-B14F-4D97-AF65-F5344CB8AC3E}">
        <p14:creationId xmlns:p14="http://schemas.microsoft.com/office/powerpoint/2010/main" val="3672657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120C-A401-2E55-CA1A-D4C9F0B88BEF}"/>
              </a:ext>
            </a:extLst>
          </p:cNvPr>
          <p:cNvSpPr>
            <a:spLocks noGrp="1"/>
          </p:cNvSpPr>
          <p:nvPr>
            <p:ph type="title"/>
          </p:nvPr>
        </p:nvSpPr>
        <p:spPr>
          <a:xfrm>
            <a:off x="1859" y="2710"/>
            <a:ext cx="10515600" cy="879515"/>
          </a:xfrm>
        </p:spPr>
        <p:txBody>
          <a:bodyPr>
            <a:normAutofit/>
          </a:bodyPr>
          <a:lstStyle/>
          <a:p>
            <a:r>
              <a:rPr lang="ja-JP" altLang="en-US" sz="2800">
                <a:ea typeface="ＭＳ Ｐゴシック"/>
              </a:rPr>
              <a:t>戦闘方法</a:t>
            </a:r>
            <a:endParaRPr kumimoji="1" lang="en-US" sz="2800"/>
          </a:p>
        </p:txBody>
      </p:sp>
      <p:sp>
        <p:nvSpPr>
          <p:cNvPr id="3" name="Content Placeholder 2">
            <a:extLst>
              <a:ext uri="{FF2B5EF4-FFF2-40B4-BE49-F238E27FC236}">
                <a16:creationId xmlns:a16="http://schemas.microsoft.com/office/drawing/2014/main" id="{C31DD688-0907-30F6-1984-4754C7E685D3}"/>
              </a:ext>
            </a:extLst>
          </p:cNvPr>
          <p:cNvSpPr>
            <a:spLocks noGrp="1"/>
          </p:cNvSpPr>
          <p:nvPr>
            <p:ph idx="1"/>
          </p:nvPr>
        </p:nvSpPr>
        <p:spPr>
          <a:xfrm>
            <a:off x="1859" y="887064"/>
            <a:ext cx="10515600" cy="875875"/>
          </a:xfrm>
        </p:spPr>
        <p:txBody>
          <a:bodyPr vert="horz" lIns="91440" tIns="45720" rIns="91440" bIns="45720" rtlCol="0" anchor="t">
            <a:normAutofit/>
          </a:bodyPr>
          <a:lstStyle/>
          <a:p>
            <a:pPr marL="0" indent="0">
              <a:buNone/>
            </a:pPr>
            <a:r>
              <a:rPr lang="ja-JP" altLang="en-US" sz="2000">
                <a:ea typeface="ＭＳ Ｐゴシック"/>
              </a:rPr>
              <a:t>意図としてパズル（戦略）を主軸にするため、プレイヤーは初期は攻撃手段を持たない。</a:t>
            </a:r>
          </a:p>
          <a:p>
            <a:pPr marL="0" indent="0">
              <a:buNone/>
            </a:pPr>
            <a:r>
              <a:rPr lang="ja-JP" altLang="en-US" sz="2000">
                <a:ea typeface="ＭＳ Ｐゴシック"/>
              </a:rPr>
              <a:t>トラップエリアやショップで購入できるトラップで攻略していくものにする。</a:t>
            </a:r>
          </a:p>
          <a:p>
            <a:pPr marL="0" indent="0">
              <a:buNone/>
            </a:pPr>
            <a:endParaRPr lang="ja-JP" altLang="en-US" sz="2000">
              <a:ea typeface="ＭＳ Ｐゴシック"/>
            </a:endParaRPr>
          </a:p>
          <a:p>
            <a:pPr marL="0" indent="0">
              <a:buNone/>
            </a:pPr>
            <a:endParaRPr lang="ja-JP" altLang="en-US" sz="2000">
              <a:ea typeface="ＭＳ Ｐゴシック"/>
            </a:endParaRPr>
          </a:p>
          <a:p>
            <a:pPr marL="0" indent="0">
              <a:buNone/>
            </a:pPr>
            <a:endParaRPr lang="ja-JP" altLang="en-US" sz="2000">
              <a:ea typeface="ＭＳ Ｐゴシック"/>
            </a:endParaRPr>
          </a:p>
        </p:txBody>
      </p:sp>
    </p:spTree>
    <p:extLst>
      <p:ext uri="{BB962C8B-B14F-4D97-AF65-F5344CB8AC3E}">
        <p14:creationId xmlns:p14="http://schemas.microsoft.com/office/powerpoint/2010/main" val="1141579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838C0-15D2-0264-BAEF-B55F76733667}"/>
              </a:ext>
            </a:extLst>
          </p:cNvPr>
          <p:cNvSpPr>
            <a:spLocks noGrp="1"/>
          </p:cNvSpPr>
          <p:nvPr>
            <p:ph type="title"/>
          </p:nvPr>
        </p:nvSpPr>
        <p:spPr>
          <a:xfrm>
            <a:off x="-5080" y="-635"/>
            <a:ext cx="10515600" cy="746443"/>
          </a:xfrm>
        </p:spPr>
        <p:txBody>
          <a:bodyPr>
            <a:normAutofit/>
          </a:bodyPr>
          <a:lstStyle/>
          <a:p>
            <a:r>
              <a:rPr lang="ja-JP" altLang="en-US" sz="2800">
                <a:ea typeface="ＭＳ Ｐゴシック"/>
              </a:rPr>
              <a:t>備考　質問疑問に答えています</a:t>
            </a:r>
            <a:endParaRPr kumimoji="1" lang="en-US" sz="2800">
              <a:ea typeface="ＭＳ Ｐゴシック"/>
            </a:endParaRPr>
          </a:p>
        </p:txBody>
      </p:sp>
      <p:sp>
        <p:nvSpPr>
          <p:cNvPr id="3" name="Content Placeholder 2">
            <a:extLst>
              <a:ext uri="{FF2B5EF4-FFF2-40B4-BE49-F238E27FC236}">
                <a16:creationId xmlns:a16="http://schemas.microsoft.com/office/drawing/2014/main" id="{39E4209D-4D3D-23A1-CD87-5BC2657CE5B2}"/>
              </a:ext>
            </a:extLst>
          </p:cNvPr>
          <p:cNvSpPr>
            <a:spLocks noGrp="1"/>
          </p:cNvSpPr>
          <p:nvPr>
            <p:ph idx="1"/>
          </p:nvPr>
        </p:nvSpPr>
        <p:spPr>
          <a:xfrm>
            <a:off x="-25400" y="738505"/>
            <a:ext cx="10515600" cy="4351338"/>
          </a:xfrm>
        </p:spPr>
        <p:txBody>
          <a:bodyPr vert="horz" lIns="91440" tIns="45720" rIns="91440" bIns="45720" rtlCol="0" anchor="t">
            <a:normAutofit/>
          </a:bodyPr>
          <a:lstStyle/>
          <a:p>
            <a:pPr marL="0" indent="0">
              <a:buNone/>
            </a:pPr>
            <a:r>
              <a:rPr lang="ja-JP" altLang="en-US" sz="2000">
                <a:ea typeface="ＭＳ Ｐゴシック"/>
              </a:rPr>
              <a:t>・攻略フェーズ時、プレイヤーはグリッド関係なく動くことができる</a:t>
            </a:r>
          </a:p>
          <a:p>
            <a:pPr marL="0" indent="0">
              <a:buNone/>
            </a:pPr>
            <a:r>
              <a:rPr lang="ja-JP" altLang="en-US" sz="2000">
                <a:ea typeface="ＭＳ Ｐゴシック"/>
              </a:rPr>
              <a:t>・敵も部屋関係なく動くことができる</a:t>
            </a:r>
          </a:p>
          <a:p>
            <a:pPr marL="0" indent="0">
              <a:buNone/>
            </a:pPr>
            <a:r>
              <a:rPr lang="ja-JP" altLang="en-US" sz="2000">
                <a:ea typeface="ＭＳ Ｐゴシック"/>
              </a:rPr>
              <a:t>・視点は俯瞰（設計フェーズでは２ｄ　攻略フェーズでは３ｄ）</a:t>
            </a:r>
          </a:p>
        </p:txBody>
      </p:sp>
    </p:spTree>
    <p:extLst>
      <p:ext uri="{BB962C8B-B14F-4D97-AF65-F5344CB8AC3E}">
        <p14:creationId xmlns:p14="http://schemas.microsoft.com/office/powerpoint/2010/main" val="2245662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F9FA5-229A-0A32-162A-399E40DF9C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9B92D-CCF3-5776-3296-0D37EFE74BBB}"/>
              </a:ext>
            </a:extLst>
          </p:cNvPr>
          <p:cNvSpPr>
            <a:spLocks noGrp="1"/>
          </p:cNvSpPr>
          <p:nvPr>
            <p:ph type="title"/>
          </p:nvPr>
        </p:nvSpPr>
        <p:spPr>
          <a:xfrm>
            <a:off x="1859" y="2710"/>
            <a:ext cx="10515600" cy="721539"/>
          </a:xfrm>
        </p:spPr>
        <p:txBody>
          <a:bodyPr>
            <a:normAutofit/>
          </a:bodyPr>
          <a:lstStyle/>
          <a:p>
            <a:r>
              <a:rPr lang="ja-JP" altLang="en-US" sz="2800">
                <a:ea typeface="ＭＳ Ｐゴシック"/>
              </a:rPr>
              <a:t>追加要素として考えたもの</a:t>
            </a:r>
            <a:endParaRPr kumimoji="1" lang="en-US" sz="2800">
              <a:ea typeface="ＭＳ Ｐゴシック"/>
            </a:endParaRPr>
          </a:p>
        </p:txBody>
      </p:sp>
      <p:sp>
        <p:nvSpPr>
          <p:cNvPr id="3" name="Content Placeholder 2">
            <a:extLst>
              <a:ext uri="{FF2B5EF4-FFF2-40B4-BE49-F238E27FC236}">
                <a16:creationId xmlns:a16="http://schemas.microsoft.com/office/drawing/2014/main" id="{D119057D-09D6-4338-A7F7-4A56F0D1A6B3}"/>
              </a:ext>
            </a:extLst>
          </p:cNvPr>
          <p:cNvSpPr>
            <a:spLocks noGrp="1"/>
          </p:cNvSpPr>
          <p:nvPr>
            <p:ph idx="1"/>
          </p:nvPr>
        </p:nvSpPr>
        <p:spPr>
          <a:xfrm>
            <a:off x="1859" y="729088"/>
            <a:ext cx="10515600" cy="6116947"/>
          </a:xfrm>
        </p:spPr>
        <p:txBody>
          <a:bodyPr vert="horz" lIns="91440" tIns="45720" rIns="91440" bIns="45720" rtlCol="0" anchor="t">
            <a:normAutofit/>
          </a:bodyPr>
          <a:lstStyle/>
          <a:p>
            <a:pPr marL="0" indent="0">
              <a:buNone/>
            </a:pPr>
            <a:r>
              <a:rPr lang="ja-JP" altLang="en-US" sz="2000">
                <a:ea typeface="ＭＳ Ｐゴシック"/>
              </a:rPr>
              <a:t>アイテムのなかにメリットデメリットのもの</a:t>
            </a:r>
          </a:p>
          <a:p>
            <a:pPr marL="0" indent="0">
              <a:buNone/>
            </a:pPr>
            <a:endParaRPr lang="ja-JP" altLang="en-US" sz="2000">
              <a:ea typeface="ＭＳ Ｐゴシック"/>
            </a:endParaRPr>
          </a:p>
          <a:p>
            <a:pPr marL="0" indent="0">
              <a:buNone/>
            </a:pPr>
            <a:endParaRPr lang="ja-JP" altLang="en-US" sz="2000">
              <a:ea typeface="ＭＳ Ｐゴシック"/>
            </a:endParaRPr>
          </a:p>
          <a:p>
            <a:pPr marL="0" indent="0">
              <a:buNone/>
            </a:pPr>
            <a:endParaRPr lang="ja-JP" altLang="en-US" sz="2000">
              <a:ea typeface="ＭＳ Ｐゴシック"/>
            </a:endParaRPr>
          </a:p>
          <a:p>
            <a:pPr marL="0" indent="0">
              <a:buNone/>
            </a:pPr>
            <a:endParaRPr lang="ja-JP" altLang="en-US" sz="2000">
              <a:ea typeface="ＭＳ Ｐゴシック"/>
            </a:endParaRPr>
          </a:p>
          <a:p>
            <a:pPr marL="0" indent="0">
              <a:buNone/>
            </a:pPr>
            <a:endParaRPr lang="ja-JP" altLang="en-US" sz="2000">
              <a:ea typeface="ＭＳ Ｐゴシック"/>
            </a:endParaRPr>
          </a:p>
          <a:p>
            <a:pPr marL="0" indent="0">
              <a:buNone/>
            </a:pPr>
            <a:endParaRPr lang="ja-JP" altLang="en-US" sz="2000">
              <a:ea typeface="ＭＳ Ｐゴシック"/>
            </a:endParaRPr>
          </a:p>
          <a:p>
            <a:pPr marL="0" indent="0">
              <a:buNone/>
            </a:pPr>
            <a:r>
              <a:rPr lang="ja-JP" altLang="en-US" sz="2000">
                <a:ea typeface="ＭＳ Ｐゴシック"/>
              </a:rPr>
              <a:t>備考</a:t>
            </a:r>
          </a:p>
          <a:p>
            <a:pPr marL="0" indent="0">
              <a:buNone/>
            </a:pPr>
            <a:r>
              <a:rPr lang="ja-JP" altLang="en-US" sz="2000">
                <a:ea typeface="ＭＳ Ｐゴシック"/>
              </a:rPr>
              <a:t>不満のあるところ（面白くない、単調）にこれを追加すればよいと思うものなど　お願いします。</a:t>
            </a:r>
          </a:p>
          <a:p>
            <a:pPr marL="0" indent="0">
              <a:buNone/>
            </a:pPr>
            <a:r>
              <a:rPr lang="ja-JP" altLang="en-US" sz="2000">
                <a:ea typeface="ＭＳ Ｐゴシック"/>
              </a:rPr>
              <a:t>もちろんメインシステムが優先です。</a:t>
            </a:r>
          </a:p>
        </p:txBody>
      </p:sp>
    </p:spTree>
    <p:extLst>
      <p:ext uri="{BB962C8B-B14F-4D97-AF65-F5344CB8AC3E}">
        <p14:creationId xmlns:p14="http://schemas.microsoft.com/office/powerpoint/2010/main" val="4232886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892AB-15E3-5B79-9443-7933AD0EC98D}"/>
              </a:ext>
            </a:extLst>
          </p:cNvPr>
          <p:cNvSpPr>
            <a:spLocks noGrp="1"/>
          </p:cNvSpPr>
          <p:nvPr>
            <p:ph type="title"/>
          </p:nvPr>
        </p:nvSpPr>
        <p:spPr>
          <a:xfrm>
            <a:off x="1859" y="2710"/>
            <a:ext cx="10515600" cy="637905"/>
          </a:xfrm>
        </p:spPr>
        <p:txBody>
          <a:bodyPr>
            <a:normAutofit/>
          </a:bodyPr>
          <a:lstStyle/>
          <a:p>
            <a:r>
              <a:rPr lang="ja-JP" altLang="en-US" sz="2800">
                <a:ea typeface="ＭＳ Ｐゴシック"/>
              </a:rPr>
              <a:t>チームに伝えること</a:t>
            </a:r>
            <a:endParaRPr kumimoji="1" lang="en-US" sz="2800">
              <a:ea typeface="ＭＳ Ｐゴシック"/>
            </a:endParaRPr>
          </a:p>
        </p:txBody>
      </p:sp>
      <p:sp>
        <p:nvSpPr>
          <p:cNvPr id="3" name="Content Placeholder 2">
            <a:extLst>
              <a:ext uri="{FF2B5EF4-FFF2-40B4-BE49-F238E27FC236}">
                <a16:creationId xmlns:a16="http://schemas.microsoft.com/office/drawing/2014/main" id="{CCBCD5AB-45F3-C741-4130-F6465684BE0E}"/>
              </a:ext>
            </a:extLst>
          </p:cNvPr>
          <p:cNvSpPr>
            <a:spLocks noGrp="1"/>
          </p:cNvSpPr>
          <p:nvPr>
            <p:ph idx="1"/>
          </p:nvPr>
        </p:nvSpPr>
        <p:spPr>
          <a:xfrm>
            <a:off x="1859" y="719796"/>
            <a:ext cx="10515600" cy="6135533"/>
          </a:xfrm>
        </p:spPr>
        <p:txBody>
          <a:bodyPr vert="horz" lIns="91440" tIns="45720" rIns="91440" bIns="45720" rtlCol="0" anchor="t">
            <a:normAutofit/>
          </a:bodyPr>
          <a:lstStyle/>
          <a:p>
            <a:pPr marL="0" indent="0">
              <a:buNone/>
            </a:pPr>
            <a:r>
              <a:rPr lang="ja-JP" altLang="en-US" sz="2000">
                <a:ea typeface="ＭＳ Ｐゴシック"/>
              </a:rPr>
              <a:t>以下のことはもちろん制作中に確認を取ったりします</a:t>
            </a:r>
          </a:p>
          <a:p>
            <a:pPr marL="0" indent="0">
              <a:buNone/>
            </a:pPr>
            <a:endParaRPr lang="ja-JP" altLang="en-US" sz="2000">
              <a:ea typeface="ＭＳ Ｐゴシック"/>
            </a:endParaRPr>
          </a:p>
          <a:p>
            <a:pPr marL="0" indent="0">
              <a:buNone/>
            </a:pPr>
            <a:r>
              <a:rPr lang="ja-JP" altLang="en-US" sz="2000">
                <a:ea typeface="ＭＳ Ｐゴシック"/>
              </a:rPr>
              <a:t>Unity上で制作するうえで自身の作業で新しいものを作る際、別ファイル（PuzzleActionFile外）に入れること</a:t>
            </a:r>
          </a:p>
          <a:p>
            <a:pPr marL="0" indent="0">
              <a:buNone/>
            </a:pPr>
            <a:r>
              <a:rPr lang="ja-JP" altLang="en-US" sz="2000">
                <a:ea typeface="ＭＳ Ｐゴシック"/>
              </a:rPr>
              <a:t>マージした際Mainのほうでファイルを整理します。</a:t>
            </a:r>
          </a:p>
          <a:p>
            <a:pPr marL="0" indent="0">
              <a:buNone/>
            </a:pPr>
            <a:endParaRPr lang="ja-JP" altLang="en-US" sz="2000">
              <a:ea typeface="ＭＳ Ｐゴシック"/>
            </a:endParaRPr>
          </a:p>
          <a:p>
            <a:pPr marL="0" indent="0">
              <a:buNone/>
            </a:pPr>
            <a:r>
              <a:rPr lang="ja-JP" altLang="en-US" sz="2000">
                <a:ea typeface="ＭＳ Ｐゴシック"/>
              </a:rPr>
              <a:t>コードのメンバ変数の名前は　先頭に"ｍ＿"をつける</a:t>
            </a:r>
          </a:p>
          <a:p>
            <a:pPr marL="0" indent="0">
              <a:buNone/>
            </a:pPr>
            <a:endParaRPr lang="ja-JP" altLang="en-US" sz="2000">
              <a:ea typeface="ＭＳ Ｐゴシック"/>
            </a:endParaRPr>
          </a:p>
          <a:p>
            <a:pPr marL="0" indent="0">
              <a:buNone/>
            </a:pPr>
            <a:r>
              <a:rPr lang="ja-JP" altLang="en-US" sz="2000">
                <a:ea typeface="ＭＳ Ｐゴシック"/>
              </a:rPr>
              <a:t>GitでMainからブランチを切る際、作業内容で分けます。</a:t>
            </a:r>
          </a:p>
          <a:p>
            <a:pPr marL="0" indent="0">
              <a:buNone/>
            </a:pPr>
            <a:r>
              <a:rPr lang="ja-JP" altLang="en-US" sz="2000">
                <a:ea typeface="ＭＳ Ｐゴシック"/>
              </a:rPr>
              <a:t>自身の名前で分け作業を全てそのブランチで行うわけでなく、Playerブランチ　MainSystemブランチ　のように</a:t>
            </a:r>
          </a:p>
          <a:p>
            <a:pPr marL="0" indent="0">
              <a:buNone/>
            </a:pPr>
            <a:r>
              <a:rPr lang="ja-JP" altLang="en-US" sz="2000">
                <a:ea typeface="ＭＳ Ｐゴシック"/>
              </a:rPr>
              <a:t>（細かくマージしていきたいので）</a:t>
            </a:r>
          </a:p>
          <a:p>
            <a:pPr marL="0" indent="0">
              <a:buNone/>
            </a:pPr>
            <a:endParaRPr lang="ja-JP" altLang="en-US" sz="2000">
              <a:ea typeface="ＭＳ Ｐゴシック"/>
            </a:endParaRPr>
          </a:p>
          <a:p>
            <a:pPr marL="0" indent="0">
              <a:buNone/>
            </a:pPr>
            <a:r>
              <a:rPr lang="ja-JP" altLang="en-US" sz="2000">
                <a:solidFill>
                  <a:srgbClr val="FF0000"/>
                </a:solidFill>
                <a:ea typeface="ＭＳ Ｐゴシック"/>
              </a:rPr>
              <a:t>Unityでメインシーンは触らない　</a:t>
            </a:r>
          </a:p>
          <a:p>
            <a:pPr marL="0" indent="0">
              <a:buNone/>
            </a:pPr>
            <a:r>
              <a:rPr lang="ja-JP" altLang="en-US" sz="2000">
                <a:solidFill>
                  <a:srgbClr val="FF0000"/>
                </a:solidFill>
                <a:ea typeface="ＭＳ Ｐゴシック"/>
              </a:rPr>
              <a:t>作ったもの（オブジェクト）はなるべくプレハブ化</a:t>
            </a:r>
          </a:p>
          <a:p>
            <a:pPr marL="0" indent="0">
              <a:buNone/>
            </a:pPr>
            <a:r>
              <a:rPr lang="ja-JP" altLang="en-US" sz="2000">
                <a:solidFill>
                  <a:srgbClr val="FF0000"/>
                </a:solidFill>
                <a:ea typeface="ＭＳ Ｐゴシック"/>
              </a:rPr>
              <a:t>他人のコードは触らない（拡張が必要な場合は別のスクリプト　や　継承で）</a:t>
            </a:r>
          </a:p>
        </p:txBody>
      </p:sp>
    </p:spTree>
    <p:extLst>
      <p:ext uri="{BB962C8B-B14F-4D97-AF65-F5344CB8AC3E}">
        <p14:creationId xmlns:p14="http://schemas.microsoft.com/office/powerpoint/2010/main" val="2831117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F0F05-39E4-F96A-2401-268418D8EFCC}"/>
              </a:ext>
            </a:extLst>
          </p:cNvPr>
          <p:cNvSpPr>
            <a:spLocks noGrp="1"/>
          </p:cNvSpPr>
          <p:nvPr>
            <p:ph type="title"/>
          </p:nvPr>
        </p:nvSpPr>
        <p:spPr>
          <a:xfrm>
            <a:off x="1859" y="2710"/>
            <a:ext cx="10515600" cy="721539"/>
          </a:xfrm>
        </p:spPr>
        <p:txBody>
          <a:bodyPr>
            <a:normAutofit/>
          </a:bodyPr>
          <a:lstStyle/>
          <a:p>
            <a:r>
              <a:rPr lang="ja-JP" altLang="en-US" sz="2800">
                <a:ea typeface="ＭＳ Ｐゴシック"/>
              </a:rPr>
              <a:t>追加要素として考えたもの</a:t>
            </a:r>
            <a:endParaRPr kumimoji="1" lang="en-US" sz="2800">
              <a:ea typeface="ＭＳ Ｐゴシック"/>
            </a:endParaRPr>
          </a:p>
        </p:txBody>
      </p:sp>
      <p:sp>
        <p:nvSpPr>
          <p:cNvPr id="3" name="Content Placeholder 2">
            <a:extLst>
              <a:ext uri="{FF2B5EF4-FFF2-40B4-BE49-F238E27FC236}">
                <a16:creationId xmlns:a16="http://schemas.microsoft.com/office/drawing/2014/main" id="{9477F9A3-2B71-E6FC-81F2-BBADC9022EB7}"/>
              </a:ext>
            </a:extLst>
          </p:cNvPr>
          <p:cNvSpPr>
            <a:spLocks noGrp="1"/>
          </p:cNvSpPr>
          <p:nvPr>
            <p:ph idx="1"/>
          </p:nvPr>
        </p:nvSpPr>
        <p:spPr>
          <a:xfrm>
            <a:off x="1859" y="729088"/>
            <a:ext cx="10515600" cy="6116947"/>
          </a:xfrm>
        </p:spPr>
        <p:txBody>
          <a:bodyPr vert="horz" lIns="91440" tIns="45720" rIns="91440" bIns="45720" rtlCol="0" anchor="t">
            <a:normAutofit/>
          </a:bodyPr>
          <a:lstStyle/>
          <a:p>
            <a:pPr marL="0" indent="0">
              <a:buNone/>
            </a:pPr>
            <a:r>
              <a:rPr lang="ja-JP" altLang="en-US" sz="2000">
                <a:ea typeface="ＭＳ Ｐゴシック"/>
              </a:rPr>
              <a:t>クリア毎に難易度を上げる</a:t>
            </a:r>
          </a:p>
          <a:p>
            <a:pPr marL="0" indent="0">
              <a:buNone/>
            </a:pPr>
            <a:r>
              <a:rPr lang="ja-JP" altLang="en-US" sz="2000">
                <a:ea typeface="ＭＳ Ｐゴシック"/>
              </a:rPr>
              <a:t>・敵の攻撃力や判定</a:t>
            </a:r>
          </a:p>
          <a:p>
            <a:pPr marL="0" indent="0">
              <a:buNone/>
            </a:pPr>
            <a:r>
              <a:rPr lang="ja-JP" altLang="en-US" sz="2000">
                <a:ea typeface="ＭＳ Ｐゴシック"/>
              </a:rPr>
              <a:t>・マップ選択画面でメリットデメリットが現れる</a:t>
            </a:r>
          </a:p>
          <a:p>
            <a:pPr marL="0" indent="0">
              <a:buNone/>
            </a:pPr>
            <a:r>
              <a:rPr lang="ja-JP" altLang="en-US" sz="2000">
                <a:ea typeface="ＭＳ Ｐゴシック"/>
              </a:rPr>
              <a:t>・マップ選択画面で複雑なグリッドのマップが現れる</a:t>
            </a:r>
          </a:p>
          <a:p>
            <a:pPr marL="0" indent="0">
              <a:buNone/>
            </a:pPr>
            <a:r>
              <a:rPr lang="ja-JP" altLang="en-US" sz="2000">
                <a:ea typeface="ＭＳ Ｐゴシック"/>
              </a:rPr>
              <a:t>・設計フェーズ画面で複雑なマップのピースが現れる</a:t>
            </a:r>
          </a:p>
          <a:p>
            <a:pPr marL="0" indent="0">
              <a:buNone/>
            </a:pPr>
            <a:r>
              <a:rPr lang="ja-JP" altLang="en-US" sz="2000">
                <a:ea typeface="ＭＳ Ｐゴシック"/>
              </a:rPr>
              <a:t>Etc...</a:t>
            </a:r>
          </a:p>
          <a:p>
            <a:pPr marL="0" indent="0">
              <a:buNone/>
            </a:pPr>
            <a:endParaRPr lang="ja-JP" altLang="en-US" sz="2000">
              <a:ea typeface="ＭＳ Ｐゴシック"/>
            </a:endParaRPr>
          </a:p>
          <a:p>
            <a:pPr marL="0" indent="0">
              <a:buNone/>
            </a:pPr>
            <a:r>
              <a:rPr lang="ja-JP" altLang="en-US" sz="2000">
                <a:ea typeface="ＭＳ Ｐゴシック"/>
              </a:rPr>
              <a:t>設計フェーズ画面の際多くのエリアを置くメリット　</a:t>
            </a:r>
          </a:p>
          <a:p>
            <a:pPr marL="0" indent="0">
              <a:buNone/>
            </a:pPr>
            <a:r>
              <a:rPr lang="ja-JP" altLang="en-US" sz="2000">
                <a:ea typeface="ＭＳ Ｐゴシック"/>
              </a:rPr>
              <a:t>残りマスの少なさ＋ボーナス　（スコアお金）</a:t>
            </a:r>
          </a:p>
          <a:p>
            <a:pPr marL="0" indent="0">
              <a:buNone/>
            </a:pPr>
            <a:endParaRPr lang="ja-JP" altLang="en-US" sz="2000">
              <a:ea typeface="ＭＳ Ｐゴシック"/>
            </a:endParaRPr>
          </a:p>
          <a:p>
            <a:pPr marL="0" indent="0">
              <a:buNone/>
            </a:pPr>
            <a:r>
              <a:rPr lang="ja-JP" altLang="en-US" sz="2000">
                <a:ea typeface="ＭＳ Ｐゴシック"/>
              </a:rPr>
              <a:t>敵のドロップにアイテムを出現</a:t>
            </a:r>
          </a:p>
          <a:p>
            <a:pPr marL="0" indent="0">
              <a:buNone/>
            </a:pPr>
            <a:endParaRPr lang="ja-JP" altLang="en-US" sz="2000">
              <a:ea typeface="ＭＳ Ｐゴシック"/>
            </a:endParaRPr>
          </a:p>
          <a:p>
            <a:pPr marL="0" indent="0">
              <a:buNone/>
            </a:pPr>
            <a:r>
              <a:rPr lang="ja-JP" altLang="en-US" sz="2000">
                <a:ea typeface="ＭＳ Ｐゴシック"/>
              </a:rPr>
              <a:t>アイテムトラップのなかにハメのような強力なもの　電撃トラップのような</a:t>
            </a:r>
          </a:p>
          <a:p>
            <a:pPr marL="0" indent="0">
              <a:buNone/>
            </a:pPr>
            <a:r>
              <a:rPr lang="ja-JP" altLang="en-US" sz="2000">
                <a:ea typeface="ＭＳ Ｐゴシック"/>
              </a:rPr>
              <a:t>（バランスの壊れないよう）</a:t>
            </a:r>
          </a:p>
        </p:txBody>
      </p:sp>
    </p:spTree>
    <p:extLst>
      <p:ext uri="{BB962C8B-B14F-4D97-AF65-F5344CB8AC3E}">
        <p14:creationId xmlns:p14="http://schemas.microsoft.com/office/powerpoint/2010/main" val="647008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E18B7-7C79-CCDF-0280-9DA8F04830E1}"/>
              </a:ext>
            </a:extLst>
          </p:cNvPr>
          <p:cNvSpPr>
            <a:spLocks noGrp="1"/>
          </p:cNvSpPr>
          <p:nvPr>
            <p:ph type="title"/>
          </p:nvPr>
        </p:nvSpPr>
        <p:spPr/>
        <p:txBody>
          <a:bodyPr/>
          <a:lstStyle/>
          <a:p>
            <a:r>
              <a:rPr lang="ja-JP" altLang="en-US">
                <a:ea typeface="ＭＳ Ｐゴシック"/>
              </a:rPr>
              <a:t>今後の必要事項</a:t>
            </a:r>
          </a:p>
        </p:txBody>
      </p:sp>
      <p:sp>
        <p:nvSpPr>
          <p:cNvPr id="3" name="Content Placeholder 2">
            <a:extLst>
              <a:ext uri="{FF2B5EF4-FFF2-40B4-BE49-F238E27FC236}">
                <a16:creationId xmlns:a16="http://schemas.microsoft.com/office/drawing/2014/main" id="{8319B52E-B5AE-0FD7-0C3D-42375FA67629}"/>
              </a:ext>
            </a:extLst>
          </p:cNvPr>
          <p:cNvSpPr>
            <a:spLocks noGrp="1"/>
          </p:cNvSpPr>
          <p:nvPr>
            <p:ph idx="1"/>
          </p:nvPr>
        </p:nvSpPr>
        <p:spPr/>
        <p:txBody>
          <a:bodyPr vert="horz" lIns="91440" tIns="45720" rIns="91440" bIns="45720" rtlCol="0" anchor="t">
            <a:normAutofit/>
          </a:bodyPr>
          <a:lstStyle/>
          <a:p>
            <a:r>
              <a:rPr lang="en-US"/>
              <a:t>Item </a:t>
            </a:r>
          </a:p>
          <a:p>
            <a:r>
              <a:rPr lang="en-US"/>
              <a:t>Area</a:t>
            </a:r>
            <a:endParaRPr lang="en-US" dirty="0"/>
          </a:p>
          <a:p>
            <a:r>
              <a:rPr lang="en-US"/>
              <a:t>Trap</a:t>
            </a:r>
          </a:p>
          <a:p>
            <a:r>
              <a:rPr lang="en-US"/>
              <a:t>Entity</a:t>
            </a:r>
            <a:endParaRPr lang="en-US" dirty="0"/>
          </a:p>
          <a:p>
            <a:r>
              <a:rPr lang="ja-JP" altLang="en-US">
                <a:ea typeface="ＭＳ Ｐゴシック"/>
              </a:rPr>
              <a:t>この四つをパート分けして進めていく</a:t>
            </a:r>
            <a:endParaRPr lang="ja-JP" altLang="en-US" dirty="0">
              <a:ea typeface="ＭＳ Ｐゴシック"/>
            </a:endParaRPr>
          </a:p>
        </p:txBody>
      </p:sp>
    </p:spTree>
    <p:extLst>
      <p:ext uri="{BB962C8B-B14F-4D97-AF65-F5344CB8AC3E}">
        <p14:creationId xmlns:p14="http://schemas.microsoft.com/office/powerpoint/2010/main" val="3843629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F210A-F216-57EA-ACDC-F29490F2A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39155-A5DD-8E49-1764-0D805804D210}"/>
              </a:ext>
            </a:extLst>
          </p:cNvPr>
          <p:cNvSpPr>
            <a:spLocks noGrp="1"/>
          </p:cNvSpPr>
          <p:nvPr>
            <p:ph type="title"/>
          </p:nvPr>
        </p:nvSpPr>
        <p:spPr>
          <a:xfrm>
            <a:off x="1859" y="2710"/>
            <a:ext cx="10515600" cy="637905"/>
          </a:xfrm>
        </p:spPr>
        <p:txBody>
          <a:bodyPr>
            <a:normAutofit/>
          </a:bodyPr>
          <a:lstStyle/>
          <a:p>
            <a:r>
              <a:rPr lang="ja-JP" altLang="en-US" sz="2800">
                <a:ea typeface="ＭＳ Ｐゴシック"/>
              </a:rPr>
              <a:t>チームに伝えること</a:t>
            </a:r>
            <a:endParaRPr kumimoji="1" lang="en-US" sz="2800">
              <a:ea typeface="ＭＳ Ｐゴシック"/>
            </a:endParaRPr>
          </a:p>
        </p:txBody>
      </p:sp>
      <p:sp>
        <p:nvSpPr>
          <p:cNvPr id="3" name="Content Placeholder 2">
            <a:extLst>
              <a:ext uri="{FF2B5EF4-FFF2-40B4-BE49-F238E27FC236}">
                <a16:creationId xmlns:a16="http://schemas.microsoft.com/office/drawing/2014/main" id="{BAD434EB-354F-E418-7670-9B045A8A6465}"/>
              </a:ext>
            </a:extLst>
          </p:cNvPr>
          <p:cNvSpPr>
            <a:spLocks noGrp="1"/>
          </p:cNvSpPr>
          <p:nvPr>
            <p:ph idx="1"/>
          </p:nvPr>
        </p:nvSpPr>
        <p:spPr>
          <a:xfrm>
            <a:off x="1859" y="719796"/>
            <a:ext cx="7827434" cy="6135533"/>
          </a:xfrm>
        </p:spPr>
        <p:txBody>
          <a:bodyPr vert="horz" lIns="91440" tIns="45720" rIns="91440" bIns="45720" rtlCol="0" anchor="t">
            <a:normAutofit/>
          </a:bodyPr>
          <a:lstStyle/>
          <a:p>
            <a:pPr marL="0" indent="0">
              <a:buNone/>
            </a:pPr>
            <a:r>
              <a:rPr lang="ja-JP" altLang="en-US" sz="2000">
                <a:ea typeface="ＭＳ Ｐゴシック"/>
              </a:rPr>
              <a:t>GitのPushは細かく区切ること　その際コメントをしっかり残すこと</a:t>
            </a:r>
          </a:p>
          <a:p>
            <a:pPr marL="0" indent="0">
              <a:buNone/>
            </a:pPr>
            <a:endParaRPr lang="ja-JP" altLang="en-US" sz="2000">
              <a:ea typeface="ＭＳ Ｐゴシック"/>
            </a:endParaRPr>
          </a:p>
          <a:p>
            <a:pPr marL="0" indent="0">
              <a:buNone/>
            </a:pPr>
            <a:r>
              <a:rPr lang="ja-JP" altLang="en-US" sz="2000">
                <a:ea typeface="ＭＳ Ｐゴシック"/>
              </a:rPr>
              <a:t>Summaryーfeat          :新機能　今までに出来ないことが出来る</a:t>
            </a:r>
          </a:p>
          <a:p>
            <a:pPr marL="0" indent="0">
              <a:buNone/>
            </a:pPr>
            <a:r>
              <a:rPr lang="ja-JP" altLang="en-US" sz="2000">
                <a:ea typeface="ＭＳ Ｐゴシック"/>
              </a:rPr>
              <a:t>種類　　　 ーfix             :バグ修正　明確に壊れていたものを直す</a:t>
            </a:r>
          </a:p>
          <a:p>
            <a:pPr marL="0" indent="0">
              <a:buNone/>
            </a:pPr>
            <a:r>
              <a:rPr lang="ja-JP" altLang="en-US" sz="2000">
                <a:ea typeface="ＭＳ Ｐゴシック"/>
              </a:rPr>
              <a:t>                     ーrefactor:改善　動作は変えず中身を良くする</a:t>
            </a:r>
          </a:p>
          <a:p>
            <a:pPr marL="0" indent="0">
              <a:buNone/>
            </a:pPr>
            <a:r>
              <a:rPr lang="ja-JP" altLang="en-US" sz="2000">
                <a:ea typeface="ＭＳ Ｐゴシック"/>
              </a:rPr>
              <a:t>　　　　　　 ーadd         :追加　補助的な追加（log,se,coment etc...)</a:t>
            </a:r>
          </a:p>
          <a:p>
            <a:pPr marL="0" indent="0">
              <a:buNone/>
            </a:pPr>
            <a:r>
              <a:rPr lang="ja-JP" altLang="en-US" sz="2000">
                <a:ea typeface="ＭＳ Ｐゴシック"/>
              </a:rPr>
              <a:t>                     ーremove :削除</a:t>
            </a:r>
          </a:p>
          <a:p>
            <a:pPr marL="0" indent="0">
              <a:buNone/>
            </a:pPr>
            <a:r>
              <a:rPr lang="ja-JP" altLang="en-US" sz="2000">
                <a:ea typeface="ＭＳ Ｐゴシック"/>
              </a:rPr>
              <a:t>                     ーupdate  :更新　既存のものを変更・調整</a:t>
            </a:r>
          </a:p>
          <a:p>
            <a:pPr marL="0" indent="0">
              <a:buNone/>
            </a:pPr>
            <a:r>
              <a:rPr lang="ja-JP" altLang="en-US" sz="2000">
                <a:ea typeface="ＭＳ Ｐゴシック"/>
              </a:rPr>
              <a:t>Description</a:t>
            </a:r>
          </a:p>
          <a:p>
            <a:pPr marL="0" indent="0">
              <a:buNone/>
            </a:pPr>
            <a:r>
              <a:rPr lang="ja-JP" altLang="en-US" sz="2000">
                <a:ea typeface="ＭＳ Ｐゴシック"/>
              </a:rPr>
              <a:t>・概要</a:t>
            </a:r>
          </a:p>
          <a:p>
            <a:pPr marL="0" indent="0">
              <a:buNone/>
            </a:pPr>
            <a:r>
              <a:rPr lang="ja-JP" altLang="en-US" sz="2000">
                <a:ea typeface="ＭＳ Ｐゴシック"/>
              </a:rPr>
              <a:t>・変更内容</a:t>
            </a:r>
          </a:p>
          <a:p>
            <a:pPr marL="0" indent="0">
              <a:buNone/>
            </a:pPr>
            <a:r>
              <a:rPr lang="ja-JP" altLang="en-US" sz="2000">
                <a:ea typeface="ＭＳ Ｐゴシック"/>
              </a:rPr>
              <a:t>・影響範囲（別スクリプトに影響があったことの報告など）</a:t>
            </a:r>
          </a:p>
          <a:p>
            <a:pPr marL="0" indent="0">
              <a:buNone/>
            </a:pPr>
            <a:r>
              <a:rPr lang="ja-JP" altLang="en-US" sz="2000">
                <a:ea typeface="ＭＳ Ｐゴシック"/>
              </a:rPr>
              <a:t>・確認方法（追加した要素が機能しているか確認するためのボタンなど）</a:t>
            </a:r>
          </a:p>
          <a:p>
            <a:pPr marL="0" indent="0">
              <a:buNone/>
            </a:pPr>
            <a:r>
              <a:rPr lang="ja-JP" altLang="en-US" sz="2000">
                <a:ea typeface="ＭＳ Ｐゴシック"/>
              </a:rPr>
              <a:t>・備考（将来的に追加したいことだったり　伝えたいこと）</a:t>
            </a:r>
          </a:p>
        </p:txBody>
      </p:sp>
      <p:sp>
        <p:nvSpPr>
          <p:cNvPr id="4" name="TextBox 3">
            <a:extLst>
              <a:ext uri="{FF2B5EF4-FFF2-40B4-BE49-F238E27FC236}">
                <a16:creationId xmlns:a16="http://schemas.microsoft.com/office/drawing/2014/main" id="{44391BC2-7CC3-622D-163A-4CEAD6C40B3E}"/>
              </a:ext>
            </a:extLst>
          </p:cNvPr>
          <p:cNvSpPr txBox="1"/>
          <p:nvPr/>
        </p:nvSpPr>
        <p:spPr>
          <a:xfrm>
            <a:off x="8191499" y="4921250"/>
            <a:ext cx="4000499" cy="1938992"/>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ea typeface="ＭＳ Ｐゴシック"/>
              </a:rPr>
              <a:t>どう書けばよいかわからない場合参考程度にどうぞ。</a:t>
            </a:r>
            <a:endParaRPr lang="en-US" sz="2000"/>
          </a:p>
          <a:p>
            <a:endParaRPr lang="ja-JP" altLang="en-US" sz="2000">
              <a:ea typeface="ＭＳ Ｐゴシック"/>
            </a:endParaRPr>
          </a:p>
          <a:p>
            <a:r>
              <a:rPr lang="ja-JP" altLang="en-US" sz="2000">
                <a:ea typeface="ＭＳ Ｐゴシック"/>
              </a:rPr>
              <a:t>全ての項目を書く必要はなく、あくまでマージする人や引継ぎの人にわかるようにするため　</a:t>
            </a:r>
          </a:p>
        </p:txBody>
      </p:sp>
    </p:spTree>
    <p:extLst>
      <p:ext uri="{BB962C8B-B14F-4D97-AF65-F5344CB8AC3E}">
        <p14:creationId xmlns:p14="http://schemas.microsoft.com/office/powerpoint/2010/main" val="396800016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テーマ</vt:lpstr>
      <vt:lpstr>Puzzle Design(仮)</vt:lpstr>
      <vt:lpstr>ゲームコンセプト（仮）</vt:lpstr>
      <vt:lpstr>ゲームサイクル</vt:lpstr>
      <vt:lpstr>マップ選択画面　＆　設計フェーズ画面</vt:lpstr>
      <vt:lpstr>攻略フェーズ画面</vt:lpstr>
      <vt:lpstr>ショップ画面　＆　インベントリ画面</vt:lpstr>
      <vt:lpstr>途中目標</vt:lpstr>
      <vt:lpstr>戦闘方法</vt:lpstr>
      <vt:lpstr>備考　質問疑問に答えています</vt:lpstr>
      <vt:lpstr>追加要素として考えたもの</vt:lpstr>
      <vt:lpstr>チームに伝えること</vt:lpstr>
      <vt:lpstr>追加要素として考えたもの</vt:lpstr>
      <vt:lpstr>今後の必要事項</vt:lpstr>
      <vt:lpstr>チームに伝えること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14</cp:revision>
  <dcterms:created xsi:type="dcterms:W3CDTF">2012-07-27T23:28:17Z</dcterms:created>
  <dcterms:modified xsi:type="dcterms:W3CDTF">2026-05-20T04:56:28Z</dcterms:modified>
</cp:coreProperties>
</file>